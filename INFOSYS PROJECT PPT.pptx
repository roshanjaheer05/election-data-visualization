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6" r:id="rId4"/>
  </p:sldMasterIdLst>
  <p:sldIdLst>
    <p:sldId id="257" r:id="rId5"/>
    <p:sldId id="259" r:id="rId6"/>
    <p:sldId id="260" r:id="rId7"/>
    <p:sldId id="263" r:id="rId8"/>
    <p:sldId id="262" r:id="rId9"/>
    <p:sldId id="264" r:id="rId10"/>
    <p:sldId id="265" r:id="rId11"/>
    <p:sldId id="267" r:id="rId12"/>
    <p:sldId id="269" r:id="rId13"/>
    <p:sldId id="271" r:id="rId14"/>
    <p:sldId id="272" r:id="rId15"/>
    <p:sldId id="274" r:id="rId16"/>
    <p:sldId id="275" r:id="rId17"/>
    <p:sldId id="277" r:id="rId18"/>
    <p:sldId id="278" r:id="rId19"/>
    <p:sldId id="280" r:id="rId20"/>
    <p:sldId id="258"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A8B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8D3F068-8138-4B5E-9E4E-8BA22918D17F}" v="51" dt="2026-03-14T14:48:44.51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ik roshan jaheer" userId="c2fcb9785ea62be9" providerId="LiveId" clId="{CBC1ED74-6342-414E-9BA1-FD17D7BDF2B6}"/>
    <pc:docChg chg="undo custSel addSld delSld modSld sldOrd">
      <pc:chgData name="shaik roshan jaheer" userId="c2fcb9785ea62be9" providerId="LiveId" clId="{CBC1ED74-6342-414E-9BA1-FD17D7BDF2B6}" dt="2026-03-25T14:59:30.806" v="3891" actId="255"/>
      <pc:docMkLst>
        <pc:docMk/>
      </pc:docMkLst>
      <pc:sldChg chg="addSp delSp modSp mod">
        <pc:chgData name="shaik roshan jaheer" userId="c2fcb9785ea62be9" providerId="LiveId" clId="{CBC1ED74-6342-414E-9BA1-FD17D7BDF2B6}" dt="2026-03-14T14:49:39.858" v="3873"/>
        <pc:sldMkLst>
          <pc:docMk/>
          <pc:sldMk cId="4043737824" sldId="257"/>
        </pc:sldMkLst>
        <pc:spChg chg="add mod">
          <ac:chgData name="shaik roshan jaheer" userId="c2fcb9785ea62be9" providerId="LiveId" clId="{CBC1ED74-6342-414E-9BA1-FD17D7BDF2B6}" dt="2026-03-14T14:49:38.150" v="3871" actId="14100"/>
          <ac:spMkLst>
            <pc:docMk/>
            <pc:sldMk cId="4043737824" sldId="257"/>
            <ac:spMk id="6" creationId="{5A9E70C0-16BB-B553-B754-84BF0005601A}"/>
          </ac:spMkLst>
        </pc:spChg>
      </pc:sldChg>
      <pc:sldChg chg="addSp delSp modSp mod">
        <pc:chgData name="shaik roshan jaheer" userId="c2fcb9785ea62be9" providerId="LiveId" clId="{CBC1ED74-6342-414E-9BA1-FD17D7BDF2B6}" dt="2026-03-12T15:17:52.006" v="3313" actId="14100"/>
        <pc:sldMkLst>
          <pc:docMk/>
          <pc:sldMk cId="191714609" sldId="258"/>
        </pc:sldMkLst>
        <pc:spChg chg="mod">
          <ac:chgData name="shaik roshan jaheer" userId="c2fcb9785ea62be9" providerId="LiveId" clId="{CBC1ED74-6342-414E-9BA1-FD17D7BDF2B6}" dt="2026-03-12T15:17:52.006" v="3313" actId="14100"/>
          <ac:spMkLst>
            <pc:docMk/>
            <pc:sldMk cId="191714609" sldId="258"/>
            <ac:spMk id="2" creationId="{9AB2EA78-AEB3-469B-9025-3B17201A457B}"/>
          </ac:spMkLst>
        </pc:spChg>
      </pc:sldChg>
      <pc:sldChg chg="modSp mod">
        <pc:chgData name="shaik roshan jaheer" userId="c2fcb9785ea62be9" providerId="LiveId" clId="{CBC1ED74-6342-414E-9BA1-FD17D7BDF2B6}" dt="2026-03-11T16:12:26.469" v="2890" actId="255"/>
        <pc:sldMkLst>
          <pc:docMk/>
          <pc:sldMk cId="3225495548" sldId="259"/>
        </pc:sldMkLst>
        <pc:spChg chg="mod">
          <ac:chgData name="shaik roshan jaheer" userId="c2fcb9785ea62be9" providerId="LiveId" clId="{CBC1ED74-6342-414E-9BA1-FD17D7BDF2B6}" dt="2026-03-11T16:12:26.469" v="2890" actId="255"/>
          <ac:spMkLst>
            <pc:docMk/>
            <pc:sldMk cId="3225495548" sldId="259"/>
            <ac:spMk id="3" creationId="{6D8F9733-FC2A-6B19-E578-6E51C9204EEC}"/>
          </ac:spMkLst>
        </pc:spChg>
      </pc:sldChg>
      <pc:sldChg chg="modSp mod">
        <pc:chgData name="shaik roshan jaheer" userId="c2fcb9785ea62be9" providerId="LiveId" clId="{CBC1ED74-6342-414E-9BA1-FD17D7BDF2B6}" dt="2026-03-13T15:01:54.763" v="3753" actId="20577"/>
        <pc:sldMkLst>
          <pc:docMk/>
          <pc:sldMk cId="512428510" sldId="260"/>
        </pc:sldMkLst>
        <pc:spChg chg="mod">
          <ac:chgData name="shaik roshan jaheer" userId="c2fcb9785ea62be9" providerId="LiveId" clId="{CBC1ED74-6342-414E-9BA1-FD17D7BDF2B6}" dt="2026-03-13T15:01:54.763" v="3753" actId="20577"/>
          <ac:spMkLst>
            <pc:docMk/>
            <pc:sldMk cId="512428510" sldId="260"/>
            <ac:spMk id="3" creationId="{8AD8DF77-7280-A0E8-ED00-CEE08E2944FC}"/>
          </ac:spMkLst>
        </pc:spChg>
      </pc:sldChg>
      <pc:sldChg chg="modSp mod">
        <pc:chgData name="shaik roshan jaheer" userId="c2fcb9785ea62be9" providerId="LiveId" clId="{CBC1ED74-6342-414E-9BA1-FD17D7BDF2B6}" dt="2026-03-11T15:51:08.705" v="2391" actId="113"/>
        <pc:sldMkLst>
          <pc:docMk/>
          <pc:sldMk cId="2023074132" sldId="262"/>
        </pc:sldMkLst>
        <pc:spChg chg="mod">
          <ac:chgData name="shaik roshan jaheer" userId="c2fcb9785ea62be9" providerId="LiveId" clId="{CBC1ED74-6342-414E-9BA1-FD17D7BDF2B6}" dt="2026-03-11T15:51:08.705" v="2391" actId="113"/>
          <ac:spMkLst>
            <pc:docMk/>
            <pc:sldMk cId="2023074132" sldId="262"/>
            <ac:spMk id="3" creationId="{A2A446AC-1635-C2FC-E1D1-8DAE3578F800}"/>
          </ac:spMkLst>
        </pc:spChg>
      </pc:sldChg>
      <pc:sldChg chg="addSp delSp modSp mod">
        <pc:chgData name="shaik roshan jaheer" userId="c2fcb9785ea62be9" providerId="LiveId" clId="{CBC1ED74-6342-414E-9BA1-FD17D7BDF2B6}" dt="2026-03-12T15:31:35.159" v="3717" actId="113"/>
        <pc:sldMkLst>
          <pc:docMk/>
          <pc:sldMk cId="3013218547" sldId="263"/>
        </pc:sldMkLst>
        <pc:spChg chg="add mod">
          <ac:chgData name="shaik roshan jaheer" userId="c2fcb9785ea62be9" providerId="LiveId" clId="{CBC1ED74-6342-414E-9BA1-FD17D7BDF2B6}" dt="2026-03-12T15:23:53.715" v="3341" actId="113"/>
          <ac:spMkLst>
            <pc:docMk/>
            <pc:sldMk cId="3013218547" sldId="263"/>
            <ac:spMk id="2" creationId="{39DB0F5F-4BC6-C434-5581-FE7CE6A7FE8E}"/>
          </ac:spMkLst>
        </pc:spChg>
        <pc:spChg chg="mod">
          <ac:chgData name="shaik roshan jaheer" userId="c2fcb9785ea62be9" providerId="LiveId" clId="{CBC1ED74-6342-414E-9BA1-FD17D7BDF2B6}" dt="2026-03-12T15:31:35.159" v="3717" actId="113"/>
          <ac:spMkLst>
            <pc:docMk/>
            <pc:sldMk cId="3013218547" sldId="263"/>
            <ac:spMk id="3" creationId="{08644FDF-0C44-4DD8-AE46-3E5A89D9FE1A}"/>
          </ac:spMkLst>
        </pc:spChg>
        <pc:spChg chg="add mod">
          <ac:chgData name="shaik roshan jaheer" userId="c2fcb9785ea62be9" providerId="LiveId" clId="{CBC1ED74-6342-414E-9BA1-FD17D7BDF2B6}" dt="2026-03-12T15:26:23.899" v="3446" actId="20577"/>
          <ac:spMkLst>
            <pc:docMk/>
            <pc:sldMk cId="3013218547" sldId="263"/>
            <ac:spMk id="5" creationId="{1851FE5F-0C2C-8C85-286B-655D1B850190}"/>
          </ac:spMkLst>
        </pc:spChg>
        <pc:picChg chg="mod">
          <ac:chgData name="shaik roshan jaheer" userId="c2fcb9785ea62be9" providerId="LiveId" clId="{CBC1ED74-6342-414E-9BA1-FD17D7BDF2B6}" dt="2026-03-12T15:22:38.848" v="3328" actId="14100"/>
          <ac:picMkLst>
            <pc:docMk/>
            <pc:sldMk cId="3013218547" sldId="263"/>
            <ac:picMk id="30" creationId="{B6D4A21A-AC51-60AD-72D8-661D96A736B6}"/>
          </ac:picMkLst>
        </pc:picChg>
      </pc:sldChg>
      <pc:sldChg chg="modSp mod">
        <pc:chgData name="shaik roshan jaheer" userId="c2fcb9785ea62be9" providerId="LiveId" clId="{CBC1ED74-6342-414E-9BA1-FD17D7BDF2B6}" dt="2026-03-13T14:55:13.183" v="3747" actId="115"/>
        <pc:sldMkLst>
          <pc:docMk/>
          <pc:sldMk cId="4003444254" sldId="264"/>
        </pc:sldMkLst>
        <pc:spChg chg="mod">
          <ac:chgData name="shaik roshan jaheer" userId="c2fcb9785ea62be9" providerId="LiveId" clId="{CBC1ED74-6342-414E-9BA1-FD17D7BDF2B6}" dt="2026-03-13T14:55:13.183" v="3747" actId="115"/>
          <ac:spMkLst>
            <pc:docMk/>
            <pc:sldMk cId="4003444254" sldId="264"/>
            <ac:spMk id="3" creationId="{6D57DE08-1762-D73F-5F15-C3B5019785F2}"/>
          </ac:spMkLst>
        </pc:spChg>
      </pc:sldChg>
      <pc:sldChg chg="addSp delSp modSp mod">
        <pc:chgData name="shaik roshan jaheer" userId="c2fcb9785ea62be9" providerId="LiveId" clId="{CBC1ED74-6342-414E-9BA1-FD17D7BDF2B6}" dt="2026-03-14T14:53:01.492" v="3885" actId="20577"/>
        <pc:sldMkLst>
          <pc:docMk/>
          <pc:sldMk cId="1953389170" sldId="265"/>
        </pc:sldMkLst>
        <pc:spChg chg="add mod">
          <ac:chgData name="shaik roshan jaheer" userId="c2fcb9785ea62be9" providerId="LiveId" clId="{CBC1ED74-6342-414E-9BA1-FD17D7BDF2B6}" dt="2026-03-05T15:04:51.496" v="1255" actId="20577"/>
          <ac:spMkLst>
            <pc:docMk/>
            <pc:sldMk cId="1953389170" sldId="265"/>
            <ac:spMk id="2" creationId="{2D3D6E1E-C5ED-F32B-4BD0-4862E35E59E5}"/>
          </ac:spMkLst>
        </pc:spChg>
        <pc:spChg chg="add mod">
          <ac:chgData name="shaik roshan jaheer" userId="c2fcb9785ea62be9" providerId="LiveId" clId="{CBC1ED74-6342-414E-9BA1-FD17D7BDF2B6}" dt="2026-03-13T14:41:20.010" v="3720" actId="207"/>
          <ac:spMkLst>
            <pc:docMk/>
            <pc:sldMk cId="1953389170" sldId="265"/>
            <ac:spMk id="4" creationId="{5229A7A5-A595-014D-3AFF-721570F25C2E}"/>
          </ac:spMkLst>
        </pc:spChg>
        <pc:spChg chg="add mod">
          <ac:chgData name="shaik roshan jaheer" userId="c2fcb9785ea62be9" providerId="LiveId" clId="{CBC1ED74-6342-414E-9BA1-FD17D7BDF2B6}" dt="2026-03-14T14:53:01.492" v="3885" actId="20577"/>
          <ac:spMkLst>
            <pc:docMk/>
            <pc:sldMk cId="1953389170" sldId="265"/>
            <ac:spMk id="6" creationId="{EB453779-A968-3DA4-7AE0-B2B47F65D447}"/>
          </ac:spMkLst>
        </pc:spChg>
        <pc:picChg chg="mod">
          <ac:chgData name="shaik roshan jaheer" userId="c2fcb9785ea62be9" providerId="LiveId" clId="{CBC1ED74-6342-414E-9BA1-FD17D7BDF2B6}" dt="2026-03-12T15:00:18.659" v="2897" actId="14100"/>
          <ac:picMkLst>
            <pc:docMk/>
            <pc:sldMk cId="1953389170" sldId="265"/>
            <ac:picMk id="22" creationId="{A8CBF2AD-7F65-6DAD-BD3A-560263B0D27C}"/>
          </ac:picMkLst>
        </pc:picChg>
      </pc:sldChg>
      <pc:sldChg chg="modSp mod">
        <pc:chgData name="shaik roshan jaheer" userId="c2fcb9785ea62be9" providerId="LiveId" clId="{CBC1ED74-6342-414E-9BA1-FD17D7BDF2B6}" dt="2026-03-13T14:43:34.432" v="3725" actId="20577"/>
        <pc:sldMkLst>
          <pc:docMk/>
          <pc:sldMk cId="2846470701" sldId="267"/>
        </pc:sldMkLst>
        <pc:spChg chg="mod">
          <ac:chgData name="shaik roshan jaheer" userId="c2fcb9785ea62be9" providerId="LiveId" clId="{CBC1ED74-6342-414E-9BA1-FD17D7BDF2B6}" dt="2026-03-13T14:43:34.432" v="3725" actId="20577"/>
          <ac:spMkLst>
            <pc:docMk/>
            <pc:sldMk cId="2846470701" sldId="267"/>
            <ac:spMk id="3" creationId="{2740FAEB-0168-8508-57EB-C10292FB72A0}"/>
          </ac:spMkLst>
        </pc:spChg>
      </pc:sldChg>
      <pc:sldChg chg="addSp delSp modSp mod">
        <pc:chgData name="shaik roshan jaheer" userId="c2fcb9785ea62be9" providerId="LiveId" clId="{CBC1ED74-6342-414E-9BA1-FD17D7BDF2B6}" dt="2026-03-14T14:52:55.757" v="3883" actId="20577"/>
        <pc:sldMkLst>
          <pc:docMk/>
          <pc:sldMk cId="777209159" sldId="269"/>
        </pc:sldMkLst>
        <pc:spChg chg="add mod">
          <ac:chgData name="shaik roshan jaheer" userId="c2fcb9785ea62be9" providerId="LiveId" clId="{CBC1ED74-6342-414E-9BA1-FD17D7BDF2B6}" dt="2026-03-05T15:04:09.260" v="1235" actId="207"/>
          <ac:spMkLst>
            <pc:docMk/>
            <pc:sldMk cId="777209159" sldId="269"/>
            <ac:spMk id="2" creationId="{35E7982F-1082-B022-3659-17FF58137CCC}"/>
          </ac:spMkLst>
        </pc:spChg>
        <pc:spChg chg="add del mod">
          <ac:chgData name="shaik roshan jaheer" userId="c2fcb9785ea62be9" providerId="LiveId" clId="{CBC1ED74-6342-414E-9BA1-FD17D7BDF2B6}" dt="2026-03-12T15:18:17.104" v="3314" actId="255"/>
          <ac:spMkLst>
            <pc:docMk/>
            <pc:sldMk cId="777209159" sldId="269"/>
            <ac:spMk id="4" creationId="{575D20D8-1D10-FF47-65AF-0F71CFE6281B}"/>
          </ac:spMkLst>
        </pc:spChg>
        <pc:spChg chg="add mod">
          <ac:chgData name="shaik roshan jaheer" userId="c2fcb9785ea62be9" providerId="LiveId" clId="{CBC1ED74-6342-414E-9BA1-FD17D7BDF2B6}" dt="2026-03-14T14:52:55.757" v="3883" actId="20577"/>
          <ac:spMkLst>
            <pc:docMk/>
            <pc:sldMk cId="777209159" sldId="269"/>
            <ac:spMk id="9" creationId="{A4D5DC35-0682-157E-61F9-883676E5919E}"/>
          </ac:spMkLst>
        </pc:spChg>
        <pc:picChg chg="mod">
          <ac:chgData name="shaik roshan jaheer" userId="c2fcb9785ea62be9" providerId="LiveId" clId="{CBC1ED74-6342-414E-9BA1-FD17D7BDF2B6}" dt="2026-03-13T14:44:07.360" v="3728" actId="1076"/>
          <ac:picMkLst>
            <pc:docMk/>
            <pc:sldMk cId="777209159" sldId="269"/>
            <ac:picMk id="5" creationId="{C6D926F2-E9C6-3585-8282-A4C8AA41A03B}"/>
          </ac:picMkLst>
        </pc:picChg>
      </pc:sldChg>
      <pc:sldChg chg="modSp mod">
        <pc:chgData name="shaik roshan jaheer" userId="c2fcb9785ea62be9" providerId="LiveId" clId="{CBC1ED74-6342-414E-9BA1-FD17D7BDF2B6}" dt="2026-03-13T14:44:36.843" v="3732" actId="115"/>
        <pc:sldMkLst>
          <pc:docMk/>
          <pc:sldMk cId="3049980489" sldId="271"/>
        </pc:sldMkLst>
        <pc:spChg chg="mod">
          <ac:chgData name="shaik roshan jaheer" userId="c2fcb9785ea62be9" providerId="LiveId" clId="{CBC1ED74-6342-414E-9BA1-FD17D7BDF2B6}" dt="2026-03-13T14:44:36.843" v="3732" actId="115"/>
          <ac:spMkLst>
            <pc:docMk/>
            <pc:sldMk cId="3049980489" sldId="271"/>
            <ac:spMk id="3" creationId="{7032737B-F6D5-FC76-B14C-B184E032663D}"/>
          </ac:spMkLst>
        </pc:spChg>
      </pc:sldChg>
      <pc:sldChg chg="addSp delSp modSp mod">
        <pc:chgData name="shaik roshan jaheer" userId="c2fcb9785ea62be9" providerId="LiveId" clId="{CBC1ED74-6342-414E-9BA1-FD17D7BDF2B6}" dt="2026-03-14T14:52:49.573" v="3881" actId="20577"/>
        <pc:sldMkLst>
          <pc:docMk/>
          <pc:sldMk cId="2312409900" sldId="272"/>
        </pc:sldMkLst>
        <pc:spChg chg="add del mod">
          <ac:chgData name="shaik roshan jaheer" userId="c2fcb9785ea62be9" providerId="LiveId" clId="{CBC1ED74-6342-414E-9BA1-FD17D7BDF2B6}" dt="2026-03-14T14:52:49.573" v="3881" actId="20577"/>
          <ac:spMkLst>
            <pc:docMk/>
            <pc:sldMk cId="2312409900" sldId="272"/>
            <ac:spMk id="2" creationId="{C67B8517-EE41-0682-DEA1-0A57E5A71A8C}"/>
          </ac:spMkLst>
        </pc:spChg>
        <pc:spChg chg="add mod">
          <ac:chgData name="shaik roshan jaheer" userId="c2fcb9785ea62be9" providerId="LiveId" clId="{CBC1ED74-6342-414E-9BA1-FD17D7BDF2B6}" dt="2026-03-12T15:08:27.165" v="2998" actId="14100"/>
          <ac:spMkLst>
            <pc:docMk/>
            <pc:sldMk cId="2312409900" sldId="272"/>
            <ac:spMk id="3" creationId="{81727684-B89A-793D-A5A6-50A10671ECB2}"/>
          </ac:spMkLst>
        </pc:spChg>
        <pc:picChg chg="mod">
          <ac:chgData name="shaik roshan jaheer" userId="c2fcb9785ea62be9" providerId="LiveId" clId="{CBC1ED74-6342-414E-9BA1-FD17D7BDF2B6}" dt="2026-03-12T15:07:51.813" v="2992" actId="14100"/>
          <ac:picMkLst>
            <pc:docMk/>
            <pc:sldMk cId="2312409900" sldId="272"/>
            <ac:picMk id="32" creationId="{818B6144-8F7D-BB3D-0A87-8248DA4218AB}"/>
          </ac:picMkLst>
        </pc:picChg>
      </pc:sldChg>
      <pc:sldChg chg="modSp new mod">
        <pc:chgData name="shaik roshan jaheer" userId="c2fcb9785ea62be9" providerId="LiveId" clId="{CBC1ED74-6342-414E-9BA1-FD17D7BDF2B6}" dt="2026-03-13T14:45:33.299" v="3736" actId="115"/>
        <pc:sldMkLst>
          <pc:docMk/>
          <pc:sldMk cId="3125602048" sldId="274"/>
        </pc:sldMkLst>
        <pc:spChg chg="mod">
          <ac:chgData name="shaik roshan jaheer" userId="c2fcb9785ea62be9" providerId="LiveId" clId="{CBC1ED74-6342-414E-9BA1-FD17D7BDF2B6}" dt="2026-03-05T13:13:05.297" v="58" actId="255"/>
          <ac:spMkLst>
            <pc:docMk/>
            <pc:sldMk cId="3125602048" sldId="274"/>
            <ac:spMk id="2" creationId="{C305F043-A82E-F432-73F8-F29259298B91}"/>
          </ac:spMkLst>
        </pc:spChg>
        <pc:spChg chg="mod">
          <ac:chgData name="shaik roshan jaheer" userId="c2fcb9785ea62be9" providerId="LiveId" clId="{CBC1ED74-6342-414E-9BA1-FD17D7BDF2B6}" dt="2026-03-13T14:45:33.299" v="3736" actId="115"/>
          <ac:spMkLst>
            <pc:docMk/>
            <pc:sldMk cId="3125602048" sldId="274"/>
            <ac:spMk id="3" creationId="{CF069AE0-1930-573D-5EAC-881363E89774}"/>
          </ac:spMkLst>
        </pc:spChg>
      </pc:sldChg>
      <pc:sldChg chg="addSp delSp modSp new mod">
        <pc:chgData name="shaik roshan jaheer" userId="c2fcb9785ea62be9" providerId="LiveId" clId="{CBC1ED74-6342-414E-9BA1-FD17D7BDF2B6}" dt="2026-03-25T14:58:43.695" v="3888" actId="14100"/>
        <pc:sldMkLst>
          <pc:docMk/>
          <pc:sldMk cId="124146469" sldId="275"/>
        </pc:sldMkLst>
        <pc:spChg chg="add del mod">
          <ac:chgData name="shaik roshan jaheer" userId="c2fcb9785ea62be9" providerId="LiveId" clId="{CBC1ED74-6342-414E-9BA1-FD17D7BDF2B6}" dt="2026-03-14T14:52:37.724" v="3877" actId="20577"/>
          <ac:spMkLst>
            <pc:docMk/>
            <pc:sldMk cId="124146469" sldId="275"/>
            <ac:spMk id="2" creationId="{5659C397-0B6C-99D7-4543-745603068978}"/>
          </ac:spMkLst>
        </pc:spChg>
        <pc:spChg chg="add mod">
          <ac:chgData name="shaik roshan jaheer" userId="c2fcb9785ea62be9" providerId="LiveId" clId="{CBC1ED74-6342-414E-9BA1-FD17D7BDF2B6}" dt="2026-03-25T14:58:32.184" v="3887" actId="1076"/>
          <ac:spMkLst>
            <pc:docMk/>
            <pc:sldMk cId="124146469" sldId="275"/>
            <ac:spMk id="3" creationId="{A4F33946-35CC-93CC-05FD-C05D335F5723}"/>
          </ac:spMkLst>
        </pc:spChg>
        <pc:picChg chg="add mod">
          <ac:chgData name="shaik roshan jaheer" userId="c2fcb9785ea62be9" providerId="LiveId" clId="{CBC1ED74-6342-414E-9BA1-FD17D7BDF2B6}" dt="2026-03-25T14:58:43.695" v="3888" actId="14100"/>
          <ac:picMkLst>
            <pc:docMk/>
            <pc:sldMk cId="124146469" sldId="275"/>
            <ac:picMk id="4" creationId="{6C3E8E24-F294-CE7E-1066-347B7EE46DD0}"/>
          </ac:picMkLst>
        </pc:picChg>
      </pc:sldChg>
      <pc:sldChg chg="modSp new mod">
        <pc:chgData name="shaik roshan jaheer" userId="c2fcb9785ea62be9" providerId="LiveId" clId="{CBC1ED74-6342-414E-9BA1-FD17D7BDF2B6}" dt="2026-03-13T14:46:57.803" v="3737" actId="115"/>
        <pc:sldMkLst>
          <pc:docMk/>
          <pc:sldMk cId="987823124" sldId="277"/>
        </pc:sldMkLst>
        <pc:spChg chg="mod">
          <ac:chgData name="shaik roshan jaheer" userId="c2fcb9785ea62be9" providerId="LiveId" clId="{CBC1ED74-6342-414E-9BA1-FD17D7BDF2B6}" dt="2026-03-05T13:32:37.828" v="676" actId="207"/>
          <ac:spMkLst>
            <pc:docMk/>
            <pc:sldMk cId="987823124" sldId="277"/>
            <ac:spMk id="2" creationId="{70B4C788-24A4-BDF8-1313-0A76CBFB4906}"/>
          </ac:spMkLst>
        </pc:spChg>
        <pc:spChg chg="mod">
          <ac:chgData name="shaik roshan jaheer" userId="c2fcb9785ea62be9" providerId="LiveId" clId="{CBC1ED74-6342-414E-9BA1-FD17D7BDF2B6}" dt="2026-03-13T14:46:57.803" v="3737" actId="115"/>
          <ac:spMkLst>
            <pc:docMk/>
            <pc:sldMk cId="987823124" sldId="277"/>
            <ac:spMk id="3" creationId="{4CECC226-B212-4137-F89E-A996B05264E7}"/>
          </ac:spMkLst>
        </pc:spChg>
      </pc:sldChg>
      <pc:sldChg chg="addSp delSp modSp new mod">
        <pc:chgData name="shaik roshan jaheer" userId="c2fcb9785ea62be9" providerId="LiveId" clId="{CBC1ED74-6342-414E-9BA1-FD17D7BDF2B6}" dt="2026-03-25T14:59:30.806" v="3891" actId="255"/>
        <pc:sldMkLst>
          <pc:docMk/>
          <pc:sldMk cId="3059724838" sldId="278"/>
        </pc:sldMkLst>
        <pc:spChg chg="add del mod">
          <ac:chgData name="shaik roshan jaheer" userId="c2fcb9785ea62be9" providerId="LiveId" clId="{CBC1ED74-6342-414E-9BA1-FD17D7BDF2B6}" dt="2026-03-12T15:13:55.940" v="3189" actId="47"/>
          <ac:spMkLst>
            <pc:docMk/>
            <pc:sldMk cId="3059724838" sldId="278"/>
            <ac:spMk id="2" creationId="{19947B39-261A-F2E6-4C92-95739D3EE589}"/>
          </ac:spMkLst>
        </pc:spChg>
        <pc:spChg chg="add del mod">
          <ac:chgData name="shaik roshan jaheer" userId="c2fcb9785ea62be9" providerId="LiveId" clId="{CBC1ED74-6342-414E-9BA1-FD17D7BDF2B6}" dt="2026-03-25T14:59:30.806" v="3891" actId="255"/>
          <ac:spMkLst>
            <pc:docMk/>
            <pc:sldMk cId="3059724838" sldId="278"/>
            <ac:spMk id="4" creationId="{74691179-7020-A593-6E17-19D656494BE8}"/>
          </ac:spMkLst>
        </pc:spChg>
        <pc:spChg chg="add mod">
          <ac:chgData name="shaik roshan jaheer" userId="c2fcb9785ea62be9" providerId="LiveId" clId="{CBC1ED74-6342-414E-9BA1-FD17D7BDF2B6}" dt="2026-03-14T14:52:43.100" v="3879" actId="20577"/>
          <ac:spMkLst>
            <pc:docMk/>
            <pc:sldMk cId="3059724838" sldId="278"/>
            <ac:spMk id="7" creationId="{E660F4E5-1E6C-75E7-B8D5-7C5E5A60B1B0}"/>
          </ac:spMkLst>
        </pc:spChg>
        <pc:picChg chg="add mod">
          <ac:chgData name="shaik roshan jaheer" userId="c2fcb9785ea62be9" providerId="LiveId" clId="{CBC1ED74-6342-414E-9BA1-FD17D7BDF2B6}" dt="2026-03-12T15:13:28.950" v="3180" actId="14100"/>
          <ac:picMkLst>
            <pc:docMk/>
            <pc:sldMk cId="3059724838" sldId="278"/>
            <ac:picMk id="3" creationId="{38919C1B-BD15-253D-5A4E-B08DE6831BBC}"/>
          </ac:picMkLst>
        </pc:picChg>
      </pc:sldChg>
      <pc:sldChg chg="modSp new mod ord">
        <pc:chgData name="shaik roshan jaheer" userId="c2fcb9785ea62be9" providerId="LiveId" clId="{CBC1ED74-6342-414E-9BA1-FD17D7BDF2B6}" dt="2026-03-14T14:32:37.890" v="3828" actId="115"/>
        <pc:sldMkLst>
          <pc:docMk/>
          <pc:sldMk cId="2671953012" sldId="280"/>
        </pc:sldMkLst>
        <pc:spChg chg="mod">
          <ac:chgData name="shaik roshan jaheer" userId="c2fcb9785ea62be9" providerId="LiveId" clId="{CBC1ED74-6342-414E-9BA1-FD17D7BDF2B6}" dt="2026-03-10T15:05:17.275" v="1470" actId="207"/>
          <ac:spMkLst>
            <pc:docMk/>
            <pc:sldMk cId="2671953012" sldId="280"/>
            <ac:spMk id="2" creationId="{313F3AE5-1FE0-ABBC-AFE7-5EC6583B69F7}"/>
          </ac:spMkLst>
        </pc:spChg>
        <pc:spChg chg="mod">
          <ac:chgData name="shaik roshan jaheer" userId="c2fcb9785ea62be9" providerId="LiveId" clId="{CBC1ED74-6342-414E-9BA1-FD17D7BDF2B6}" dt="2026-03-14T14:32:37.890" v="3828" actId="115"/>
          <ac:spMkLst>
            <pc:docMk/>
            <pc:sldMk cId="2671953012" sldId="280"/>
            <ac:spMk id="3" creationId="{CF6B5FCD-856D-2DCF-C201-CE51137D814E}"/>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3/25/2026</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583314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3/25/2026</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92670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3/25/2026</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041625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3/25/2026</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566630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3/25/2026</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0681946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3/25/2026</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118605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3/25/2026</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01422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3/25/2026</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9332822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3/25/2026</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232677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7D5506EE-1026-4F35-9ACC-BD05BE0F9B36}"/>
              </a:ext>
            </a:extLst>
          </p:cNvPr>
          <p:cNvSpPr>
            <a:spLocks noGrp="1"/>
          </p:cNvSpPr>
          <p:nvPr>
            <p:ph type="dt" sz="half" idx="10"/>
          </p:nvPr>
        </p:nvSpPr>
        <p:spPr/>
        <p:txBody>
          <a:bodyPr/>
          <a:lstStyle/>
          <a:p>
            <a:fld id="{B612A279-0833-481D-8C56-F67FD0AC6C50}" type="datetime1">
              <a:rPr lang="en-US" smtClean="0"/>
              <a:t>3/25/2026</a:t>
            </a:fld>
            <a:endParaRPr lang="en-US" dirty="0"/>
          </a:p>
        </p:txBody>
      </p:sp>
      <p:sp>
        <p:nvSpPr>
          <p:cNvPr id="8" name="Footer Placeholder 7">
            <a:extLst>
              <a:ext uri="{FF2B5EF4-FFF2-40B4-BE49-F238E27FC236}">
                <a16:creationId xmlns:a16="http://schemas.microsoft.com/office/drawing/2014/main" id="{B7696E5F-8D95-4450-AE52-5438E6EDE2BF}"/>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999B2253-74CC-409E-BEB0-F8EFCFCB562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6722698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1B68A5B-D9FA-424B-A4EB-30E7223836B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F33D6B0-F070-45C4-A472-19F432BE3932}"/>
              </a:ext>
            </a:extLst>
          </p:cNvPr>
          <p:cNvSpPr>
            <a:spLocks noGrp="1"/>
          </p:cNvSpPr>
          <p:nvPr>
            <p:ph type="dt" sz="half" idx="10"/>
          </p:nvPr>
        </p:nvSpPr>
        <p:spPr/>
        <p:txBody>
          <a:bodyPr/>
          <a:lstStyle/>
          <a:p>
            <a:fld id="{6587DA83-5663-4C9C-B9AA-0B40A3DAFF81}" type="datetime1">
              <a:rPr lang="en-US" smtClean="0"/>
              <a:t>3/25/2026</a:t>
            </a:fld>
            <a:endParaRPr lang="en-US" dirty="0"/>
          </a:p>
        </p:txBody>
      </p:sp>
      <p:sp>
        <p:nvSpPr>
          <p:cNvPr id="8" name="Footer Placeholder 7">
            <a:extLst>
              <a:ext uri="{FF2B5EF4-FFF2-40B4-BE49-F238E27FC236}">
                <a16:creationId xmlns:a16="http://schemas.microsoft.com/office/drawing/2014/main" id="{9975399F-DAB2-410D-967F-ED17E6F796E7}"/>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F762A46F-6BE5-4D12-9412-5CA7672EA8EC}"/>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618272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t>3/25/2026</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4982234"/>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47" r:id="rId3"/>
    <p:sldLayoutId id="2147483743" r:id="rId4"/>
    <p:sldLayoutId id="2147483738" r:id="rId5"/>
    <p:sldLayoutId id="2147483732" r:id="rId6"/>
    <p:sldLayoutId id="2147483733" r:id="rId7"/>
    <p:sldLayoutId id="2147483734" r:id="rId8"/>
    <p:sldLayoutId id="2147483735" r:id="rId9"/>
    <p:sldLayoutId id="2147483736" r:id="rId10"/>
    <p:sldLayoutId id="2147483737" r:id="rId11"/>
  </p:sldLayoutIdLst>
  <p:hf sldNum="0" hdr="0" ftr="0" dt="0"/>
  <p:txStyles>
    <p:title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A9286AD2-18A9-4868-A4E3-7A2097A208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1"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8FD68DA-43BA-4508-8DE2-BA9BB7B2FA5B}"/>
              </a:ext>
            </a:extLst>
          </p:cNvPr>
          <p:cNvSpPr>
            <a:spLocks noGrp="1"/>
          </p:cNvSpPr>
          <p:nvPr>
            <p:ph type="ctrTitle"/>
          </p:nvPr>
        </p:nvSpPr>
        <p:spPr>
          <a:xfrm>
            <a:off x="5289754" y="639097"/>
            <a:ext cx="6253317" cy="3932903"/>
          </a:xfrm>
        </p:spPr>
        <p:txBody>
          <a:bodyPr>
            <a:noAutofit/>
          </a:bodyPr>
          <a:lstStyle/>
          <a:p>
            <a:r>
              <a:rPr lang="en-US" sz="6600" dirty="0" err="1"/>
              <a:t>ElectiViz</a:t>
            </a:r>
            <a:r>
              <a:rPr lang="en-US" sz="6600" dirty="0"/>
              <a:t> election type data visualization for media</a:t>
            </a:r>
          </a:p>
        </p:txBody>
      </p:sp>
      <p:sp>
        <p:nvSpPr>
          <p:cNvPr id="3" name="Subtitle 2">
            <a:extLst>
              <a:ext uri="{FF2B5EF4-FFF2-40B4-BE49-F238E27FC236}">
                <a16:creationId xmlns:a16="http://schemas.microsoft.com/office/drawing/2014/main" id="{A8E9CFF2-3777-4FF4-A759-8491175B0B7C}"/>
              </a:ext>
            </a:extLst>
          </p:cNvPr>
          <p:cNvSpPr>
            <a:spLocks noGrp="1"/>
          </p:cNvSpPr>
          <p:nvPr>
            <p:ph type="subTitle" idx="1"/>
          </p:nvPr>
        </p:nvSpPr>
        <p:spPr>
          <a:xfrm flipV="1">
            <a:off x="5289753" y="7315200"/>
            <a:ext cx="6269347" cy="401216"/>
          </a:xfrm>
        </p:spPr>
        <p:txBody>
          <a:bodyPr>
            <a:normAutofit fontScale="92500" lnSpcReduction="20000"/>
          </a:bodyPr>
          <a:lstStyle/>
          <a:p>
            <a:endParaRPr lang="en-US" sz="2400" dirty="0">
              <a:solidFill>
                <a:schemeClr val="tx1">
                  <a:lumMod val="85000"/>
                  <a:lumOff val="15000"/>
                </a:schemeClr>
              </a:solidFill>
            </a:endParaRPr>
          </a:p>
        </p:txBody>
      </p:sp>
      <p:pic>
        <p:nvPicPr>
          <p:cNvPr id="5" name="Picture 4" descr="A picture containing building, sitting, bench, side&#10;&#10;Description automatically generated">
            <a:extLst>
              <a:ext uri="{FF2B5EF4-FFF2-40B4-BE49-F238E27FC236}">
                <a16:creationId xmlns:a16="http://schemas.microsoft.com/office/drawing/2014/main" id="{282CF6DD-7FE8-4063-9551-1B7BBCE92ABE}"/>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1" y="1"/>
            <a:ext cx="4635315" cy="6857999"/>
          </a:xfrm>
          <a:prstGeom prst="rect">
            <a:avLst/>
          </a:prstGeom>
        </p:spPr>
      </p:pic>
      <p:cxnSp>
        <p:nvCxnSpPr>
          <p:cNvPr id="24" name="Straight Connector 23">
            <a:extLst>
              <a:ext uri="{FF2B5EF4-FFF2-40B4-BE49-F238E27FC236}">
                <a16:creationId xmlns:a16="http://schemas.microsoft.com/office/drawing/2014/main" id="{E7A7CD63-7EC3-44F3-95D0-595C4019FF2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27754" y="4498925"/>
            <a:ext cx="5636107"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5A9E70C0-16BB-B553-B754-84BF0005601A}"/>
              </a:ext>
            </a:extLst>
          </p:cNvPr>
          <p:cNvSpPr txBox="1"/>
          <p:nvPr/>
        </p:nvSpPr>
        <p:spPr>
          <a:xfrm>
            <a:off x="5915606" y="5253335"/>
            <a:ext cx="5355773" cy="1015663"/>
          </a:xfrm>
          <a:prstGeom prst="rect">
            <a:avLst/>
          </a:prstGeom>
          <a:noFill/>
        </p:spPr>
        <p:txBody>
          <a:bodyPr wrap="square" rtlCol="0">
            <a:spAutoFit/>
          </a:bodyPr>
          <a:lstStyle/>
          <a:p>
            <a:r>
              <a:rPr lang="en-IN" sz="2400" dirty="0">
                <a:solidFill>
                  <a:srgbClr val="FF0000"/>
                </a:solidFill>
              </a:rPr>
              <a:t>Presented By SK ROSHAN JAHEER</a:t>
            </a:r>
          </a:p>
          <a:p>
            <a:endParaRPr lang="en-IN" dirty="0"/>
          </a:p>
          <a:p>
            <a:endParaRPr lang="en-IN" dirty="0"/>
          </a:p>
        </p:txBody>
      </p:sp>
    </p:spTree>
    <p:extLst>
      <p:ext uri="{BB962C8B-B14F-4D97-AF65-F5344CB8AC3E}">
        <p14:creationId xmlns:p14="http://schemas.microsoft.com/office/powerpoint/2010/main" val="40437378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3030A3-6109-0002-411B-122B93E959BA}"/>
              </a:ext>
            </a:extLst>
          </p:cNvPr>
          <p:cNvSpPr>
            <a:spLocks noGrp="1"/>
          </p:cNvSpPr>
          <p:nvPr>
            <p:ph type="title"/>
          </p:nvPr>
        </p:nvSpPr>
        <p:spPr/>
        <p:txBody>
          <a:bodyPr/>
          <a:lstStyle/>
          <a:p>
            <a:r>
              <a:rPr lang="en-IN" dirty="0">
                <a:solidFill>
                  <a:srgbClr val="FF0000"/>
                </a:solidFill>
              </a:rPr>
              <a:t>Problem Statement</a:t>
            </a:r>
          </a:p>
        </p:txBody>
      </p:sp>
      <p:sp>
        <p:nvSpPr>
          <p:cNvPr id="3" name="Content Placeholder 2">
            <a:extLst>
              <a:ext uri="{FF2B5EF4-FFF2-40B4-BE49-F238E27FC236}">
                <a16:creationId xmlns:a16="http://schemas.microsoft.com/office/drawing/2014/main" id="{6D8F9733-FC2A-6B19-E578-6E51C9204EEC}"/>
              </a:ext>
            </a:extLst>
          </p:cNvPr>
          <p:cNvSpPr>
            <a:spLocks noGrp="1"/>
          </p:cNvSpPr>
          <p:nvPr>
            <p:ph idx="1"/>
          </p:nvPr>
        </p:nvSpPr>
        <p:spPr>
          <a:xfrm>
            <a:off x="1097280" y="1833881"/>
            <a:ext cx="10058400" cy="4140199"/>
          </a:xfrm>
        </p:spPr>
        <p:txBody>
          <a:bodyPr>
            <a:noAutofit/>
          </a:bodyPr>
          <a:lstStyle/>
          <a:p>
            <a:r>
              <a:rPr lang="en-US" sz="2000" dirty="0"/>
              <a:t>   </a:t>
            </a:r>
            <a:r>
              <a:rPr lang="en-US" sz="2100" b="1" dirty="0">
                <a:solidFill>
                  <a:srgbClr val="0070C0"/>
                </a:solidFill>
              </a:rPr>
              <a:t>In modern democracies,</a:t>
            </a:r>
            <a:r>
              <a:rPr lang="en-US" sz="2100" dirty="0"/>
              <a:t> election data is vast, complex, and rapidly evolving. Media organizations require accurate, real-time, and visually engaging representations of election results to inform the public effectively. However, raw election data is often difficult to interpret quickly without structured visualization.</a:t>
            </a:r>
          </a:p>
          <a:p>
            <a:r>
              <a:rPr lang="en-US" sz="2100" b="1" dirty="0">
                <a:solidFill>
                  <a:srgbClr val="0070C0"/>
                </a:solidFill>
              </a:rPr>
              <a:t>  Data visualization platform</a:t>
            </a:r>
            <a:r>
              <a:rPr lang="en-US" sz="2100" dirty="0"/>
              <a:t> that transforms complex election datasets into</a:t>
            </a:r>
          </a:p>
          <a:p>
            <a:r>
              <a:rPr lang="en-US" sz="2100" dirty="0"/>
              <a:t>1. </a:t>
            </a:r>
            <a:r>
              <a:rPr lang="en-US" sz="2100" u="sng" dirty="0"/>
              <a:t>interactive dashboards</a:t>
            </a:r>
            <a:r>
              <a:rPr lang="en-US" sz="2100" dirty="0"/>
              <a:t>, charts, and real-time visual reports. </a:t>
            </a:r>
          </a:p>
          <a:p>
            <a:r>
              <a:rPr lang="en-US" sz="2100" dirty="0"/>
              <a:t>2. The system should enable media professionals </a:t>
            </a:r>
            <a:r>
              <a:rPr lang="en-US" sz="2100" u="sng" dirty="0"/>
              <a:t>to analyze and present election trends clearly,</a:t>
            </a:r>
          </a:p>
          <a:p>
            <a:r>
              <a:rPr lang="en-US" sz="2100" dirty="0"/>
              <a:t>3. </a:t>
            </a:r>
            <a:r>
              <a:rPr lang="en-US" sz="2100" u="sng" dirty="0"/>
              <a:t>compare historical and current results</a:t>
            </a:r>
            <a:r>
              <a:rPr lang="en-US" sz="2100" dirty="0"/>
              <a:t>, track vote shares and </a:t>
            </a:r>
          </a:p>
          <a:p>
            <a:r>
              <a:rPr lang="en-US" sz="2100" dirty="0"/>
              <a:t>4. </a:t>
            </a:r>
            <a:r>
              <a:rPr lang="en-US" sz="2100" u="sng" dirty="0"/>
              <a:t>highlight key performance</a:t>
            </a:r>
            <a:r>
              <a:rPr lang="en-US" sz="2100" dirty="0"/>
              <a:t> indicators across regions and parties.</a:t>
            </a:r>
            <a:endParaRPr lang="en-IN" sz="2100" dirty="0"/>
          </a:p>
        </p:txBody>
      </p:sp>
    </p:spTree>
    <p:extLst>
      <p:ext uri="{BB962C8B-B14F-4D97-AF65-F5344CB8AC3E}">
        <p14:creationId xmlns:p14="http://schemas.microsoft.com/office/powerpoint/2010/main" val="32254955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28B46-2287-8F1F-C806-2922EA7B36D6}"/>
              </a:ext>
            </a:extLst>
          </p:cNvPr>
          <p:cNvSpPr>
            <a:spLocks noGrp="1"/>
          </p:cNvSpPr>
          <p:nvPr>
            <p:ph type="title"/>
          </p:nvPr>
        </p:nvSpPr>
        <p:spPr/>
        <p:txBody>
          <a:bodyPr/>
          <a:lstStyle/>
          <a:p>
            <a:r>
              <a:rPr lang="en-IN" dirty="0">
                <a:solidFill>
                  <a:srgbClr val="FF0000"/>
                </a:solidFill>
              </a:rPr>
              <a:t>Objective of the project</a:t>
            </a:r>
          </a:p>
        </p:txBody>
      </p:sp>
      <p:sp>
        <p:nvSpPr>
          <p:cNvPr id="3" name="Content Placeholder 2">
            <a:extLst>
              <a:ext uri="{FF2B5EF4-FFF2-40B4-BE49-F238E27FC236}">
                <a16:creationId xmlns:a16="http://schemas.microsoft.com/office/drawing/2014/main" id="{8AD8DF77-7280-A0E8-ED00-CEE08E2944FC}"/>
              </a:ext>
            </a:extLst>
          </p:cNvPr>
          <p:cNvSpPr>
            <a:spLocks noGrp="1"/>
          </p:cNvSpPr>
          <p:nvPr>
            <p:ph idx="1"/>
          </p:nvPr>
        </p:nvSpPr>
        <p:spPr/>
        <p:txBody>
          <a:bodyPr>
            <a:noAutofit/>
          </a:bodyPr>
          <a:lstStyle/>
          <a:p>
            <a:r>
              <a:rPr lang="en-US" sz="2400" b="1" dirty="0">
                <a:solidFill>
                  <a:srgbClr val="0070C0"/>
                </a:solidFill>
              </a:rPr>
              <a:t>1</a:t>
            </a:r>
            <a:r>
              <a:rPr lang="en-US" sz="2400" b="1" dirty="0"/>
              <a:t> </a:t>
            </a:r>
            <a:r>
              <a:rPr lang="en-US" sz="2400" b="1" u="sng" dirty="0">
                <a:solidFill>
                  <a:srgbClr val="0070C0"/>
                </a:solidFill>
              </a:rPr>
              <a:t>To develop an interactive data visualization platform</a:t>
            </a:r>
            <a:r>
              <a:rPr lang="en-US" sz="2400" u="sng" dirty="0">
                <a:solidFill>
                  <a:srgbClr val="0070C0"/>
                </a:solidFill>
              </a:rPr>
              <a:t> </a:t>
            </a:r>
            <a:r>
              <a:rPr lang="en-US" sz="2400" dirty="0"/>
              <a:t>that transforms complex election data into clear and meaningful graphical representations.</a:t>
            </a:r>
          </a:p>
          <a:p>
            <a:r>
              <a:rPr lang="en-US" sz="2400" b="1" dirty="0">
                <a:solidFill>
                  <a:srgbClr val="0070C0"/>
                </a:solidFill>
              </a:rPr>
              <a:t>2</a:t>
            </a:r>
            <a:r>
              <a:rPr lang="en-US" sz="2400" b="1" dirty="0"/>
              <a:t> </a:t>
            </a:r>
            <a:r>
              <a:rPr lang="en-US" sz="2400" b="1" u="sng" dirty="0">
                <a:solidFill>
                  <a:srgbClr val="0070C0"/>
                </a:solidFill>
              </a:rPr>
              <a:t>To provide real-time election result tracking</a:t>
            </a:r>
            <a:r>
              <a:rPr lang="en-US" sz="2400" u="sng" dirty="0">
                <a:solidFill>
                  <a:srgbClr val="0070C0"/>
                </a:solidFill>
              </a:rPr>
              <a:t> </a:t>
            </a:r>
            <a:r>
              <a:rPr lang="en-US" sz="2400" dirty="0"/>
              <a:t>for media organizations to broadcast accurate and up-to-date information.</a:t>
            </a:r>
          </a:p>
          <a:p>
            <a:r>
              <a:rPr lang="en-US" sz="2400" b="1" dirty="0">
                <a:solidFill>
                  <a:srgbClr val="0070C0"/>
                </a:solidFill>
              </a:rPr>
              <a:t>3</a:t>
            </a:r>
            <a:r>
              <a:rPr lang="en-US" sz="2400" b="1" dirty="0"/>
              <a:t> </a:t>
            </a:r>
            <a:r>
              <a:rPr lang="en-US" sz="2400" b="1" u="sng" dirty="0">
                <a:solidFill>
                  <a:srgbClr val="0070C0"/>
                </a:solidFill>
              </a:rPr>
              <a:t>To analyze constituency-wise and party-wise performance</a:t>
            </a:r>
            <a:r>
              <a:rPr lang="en-US" sz="2400" u="sng" dirty="0">
                <a:solidFill>
                  <a:srgbClr val="0070C0"/>
                </a:solidFill>
              </a:rPr>
              <a:t> </a:t>
            </a:r>
            <a:r>
              <a:rPr lang="en-US" sz="2400" dirty="0"/>
              <a:t>using dashboards, charts, and maps.</a:t>
            </a:r>
          </a:p>
          <a:p>
            <a:r>
              <a:rPr lang="en-US" sz="2400" b="1" dirty="0">
                <a:solidFill>
                  <a:srgbClr val="0070C0"/>
                </a:solidFill>
              </a:rPr>
              <a:t>4</a:t>
            </a:r>
            <a:r>
              <a:rPr lang="en-US" sz="2400" b="1" dirty="0"/>
              <a:t> </a:t>
            </a:r>
            <a:r>
              <a:rPr lang="en-US" sz="2400" b="1" u="sng" dirty="0">
                <a:solidFill>
                  <a:srgbClr val="0070C0"/>
                </a:solidFill>
              </a:rPr>
              <a:t>To simplify large datasets</a:t>
            </a:r>
            <a:r>
              <a:rPr lang="en-US" sz="2400" u="sng" dirty="0">
                <a:solidFill>
                  <a:srgbClr val="0070C0"/>
                </a:solidFill>
              </a:rPr>
              <a:t> </a:t>
            </a:r>
            <a:r>
              <a:rPr lang="en-US" sz="2400" dirty="0"/>
              <a:t>such as vote share, voter turnout, and demographic trends into easy-to-understand visuals.</a:t>
            </a:r>
            <a:endParaRPr lang="en-IN" sz="2400" dirty="0"/>
          </a:p>
        </p:txBody>
      </p:sp>
    </p:spTree>
    <p:extLst>
      <p:ext uri="{BB962C8B-B14F-4D97-AF65-F5344CB8AC3E}">
        <p14:creationId xmlns:p14="http://schemas.microsoft.com/office/powerpoint/2010/main" val="5124285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8644FDF-0C44-4DD8-AE46-3E5A89D9FE1A}"/>
              </a:ext>
            </a:extLst>
          </p:cNvPr>
          <p:cNvSpPr>
            <a:spLocks noGrp="1"/>
          </p:cNvSpPr>
          <p:nvPr>
            <p:ph type="title"/>
          </p:nvPr>
        </p:nvSpPr>
        <p:spPr>
          <a:xfrm>
            <a:off x="0" y="5393094"/>
            <a:ext cx="12338179" cy="1726162"/>
          </a:xfrm>
        </p:spPr>
        <p:txBody>
          <a:bodyPr/>
          <a:lstStyle/>
          <a:p>
            <a:br>
              <a:rPr lang="en-IN" dirty="0">
                <a:solidFill>
                  <a:srgbClr val="FFC000"/>
                </a:solidFill>
              </a:rPr>
            </a:br>
            <a:r>
              <a:rPr lang="en-IN" sz="2000" b="1" dirty="0">
                <a:solidFill>
                  <a:srgbClr val="00B050"/>
                </a:solidFill>
              </a:rPr>
              <a:t>The dataset includes:</a:t>
            </a:r>
            <a:br>
              <a:rPr lang="en-IN" sz="2000" b="1" dirty="0"/>
            </a:br>
            <a:br>
              <a:rPr lang="en-IN" sz="2000" b="1" dirty="0"/>
            </a:br>
            <a:r>
              <a:rPr lang="en-IN" sz="2000" b="1" dirty="0">
                <a:solidFill>
                  <a:srgbClr val="FF0000"/>
                </a:solidFill>
              </a:rPr>
              <a:t>1.consistency        2.Total votes received        3.Total no of parties     4.States</a:t>
            </a:r>
            <a:br>
              <a:rPr lang="en-IN" sz="2000" b="1" dirty="0">
                <a:solidFill>
                  <a:srgbClr val="FF0000"/>
                </a:solidFill>
              </a:rPr>
            </a:br>
            <a:br>
              <a:rPr lang="en-IN" sz="2000" b="1" dirty="0">
                <a:solidFill>
                  <a:srgbClr val="FF0000"/>
                </a:solidFill>
              </a:rPr>
            </a:br>
            <a:r>
              <a:rPr lang="en-IN" sz="2000" b="1" dirty="0">
                <a:solidFill>
                  <a:srgbClr val="FF0000"/>
                </a:solidFill>
              </a:rPr>
              <a:t> 5. vote percentage          6. Candidate names      7. </a:t>
            </a:r>
            <a:r>
              <a:rPr lang="en-US" sz="2000" b="1" dirty="0">
                <a:solidFill>
                  <a:srgbClr val="FF0000"/>
                </a:solidFill>
              </a:rPr>
              <a:t>Winning candidate and victory margin</a:t>
            </a:r>
            <a:br>
              <a:rPr lang="en-US" sz="2000" b="1" dirty="0">
                <a:solidFill>
                  <a:srgbClr val="FF0000"/>
                </a:solidFill>
              </a:rPr>
            </a:br>
            <a:br>
              <a:rPr lang="en-US" sz="2000" b="1" dirty="0">
                <a:solidFill>
                  <a:srgbClr val="FF0000"/>
                </a:solidFill>
              </a:rPr>
            </a:br>
            <a:r>
              <a:rPr lang="en-IN" sz="2000" b="1" dirty="0">
                <a:solidFill>
                  <a:srgbClr val="FF0000"/>
                </a:solidFill>
              </a:rPr>
              <a:t>8. Vote share percentage</a:t>
            </a:r>
            <a:br>
              <a:rPr lang="en-US" b="1" dirty="0">
                <a:solidFill>
                  <a:srgbClr val="FF0000"/>
                </a:solidFill>
              </a:rPr>
            </a:br>
            <a:endParaRPr lang="en-IN" b="1" dirty="0">
              <a:solidFill>
                <a:srgbClr val="FF0000"/>
              </a:solidFill>
            </a:endParaRPr>
          </a:p>
        </p:txBody>
      </p:sp>
      <p:pic>
        <p:nvPicPr>
          <p:cNvPr id="30" name="Picture Placeholder 29">
            <a:extLst>
              <a:ext uri="{FF2B5EF4-FFF2-40B4-BE49-F238E27FC236}">
                <a16:creationId xmlns:a16="http://schemas.microsoft.com/office/drawing/2014/main" id="{B6D4A21A-AC51-60AD-72D8-661D96A736B6}"/>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l="4168" r="4168"/>
          <a:stretch>
            <a:fillRect/>
          </a:stretch>
        </p:blipFill>
        <p:spPr>
          <a:xfrm>
            <a:off x="16" y="111967"/>
            <a:ext cx="6848654" cy="4460033"/>
          </a:xfrm>
          <a:prstGeom prst="rect">
            <a:avLst/>
          </a:prstGeom>
          <a:solidFill>
            <a:srgbClr val="FFFFFF">
              <a:lumMod val="85000"/>
            </a:srgbClr>
          </a:solidFill>
        </p:spPr>
      </p:pic>
      <p:sp>
        <p:nvSpPr>
          <p:cNvPr id="2" name="TextBox 1">
            <a:extLst>
              <a:ext uri="{FF2B5EF4-FFF2-40B4-BE49-F238E27FC236}">
                <a16:creationId xmlns:a16="http://schemas.microsoft.com/office/drawing/2014/main" id="{39DB0F5F-4BC6-C434-5581-FE7CE6A7FE8E}"/>
              </a:ext>
            </a:extLst>
          </p:cNvPr>
          <p:cNvSpPr txBox="1"/>
          <p:nvPr/>
        </p:nvSpPr>
        <p:spPr>
          <a:xfrm>
            <a:off x="8052317" y="111967"/>
            <a:ext cx="2845837" cy="461665"/>
          </a:xfrm>
          <a:prstGeom prst="rect">
            <a:avLst/>
          </a:prstGeom>
          <a:noFill/>
        </p:spPr>
        <p:txBody>
          <a:bodyPr wrap="square" rtlCol="0">
            <a:spAutoFit/>
          </a:bodyPr>
          <a:lstStyle/>
          <a:p>
            <a:r>
              <a:rPr lang="en-IN" sz="2400" b="1" dirty="0">
                <a:solidFill>
                  <a:srgbClr val="FF0000"/>
                </a:solidFill>
              </a:rPr>
              <a:t>About the Dataset</a:t>
            </a:r>
            <a:endParaRPr lang="en-IN" sz="2400" b="1" dirty="0"/>
          </a:p>
        </p:txBody>
      </p:sp>
      <p:sp>
        <p:nvSpPr>
          <p:cNvPr id="5" name="TextBox 4">
            <a:extLst>
              <a:ext uri="{FF2B5EF4-FFF2-40B4-BE49-F238E27FC236}">
                <a16:creationId xmlns:a16="http://schemas.microsoft.com/office/drawing/2014/main" id="{1851FE5F-0C2C-8C85-286B-655D1B850190}"/>
              </a:ext>
            </a:extLst>
          </p:cNvPr>
          <p:cNvSpPr txBox="1"/>
          <p:nvPr/>
        </p:nvSpPr>
        <p:spPr>
          <a:xfrm>
            <a:off x="6988629" y="788438"/>
            <a:ext cx="5343314" cy="3693319"/>
          </a:xfrm>
          <a:prstGeom prst="rect">
            <a:avLst/>
          </a:prstGeom>
          <a:noFill/>
        </p:spPr>
        <p:txBody>
          <a:bodyPr wrap="square" rtlCol="0">
            <a:spAutoFit/>
          </a:bodyPr>
          <a:lstStyle/>
          <a:p>
            <a:r>
              <a:rPr lang="en-US" sz="2400" dirty="0"/>
              <a:t>The dataset used in </a:t>
            </a:r>
            <a:r>
              <a:rPr lang="en-US" sz="2400" dirty="0" err="1"/>
              <a:t>ElectiViz</a:t>
            </a:r>
            <a:r>
              <a:rPr lang="en-US" sz="2400" dirty="0"/>
              <a:t> consists of </a:t>
            </a:r>
            <a:r>
              <a:rPr lang="en-US" sz="2400" u="sng" dirty="0"/>
              <a:t>structured election data </a:t>
            </a:r>
            <a:r>
              <a:rPr lang="en-US" sz="2400" dirty="0"/>
              <a:t>collected from official election commission sources and publicly available government records.</a:t>
            </a:r>
          </a:p>
          <a:p>
            <a:r>
              <a:rPr lang="en-US" sz="2400" dirty="0"/>
              <a:t>                  It includes detailed information about constituencies, political parties, candidates, vote counts, and voter turnout statistics. </a:t>
            </a:r>
            <a:endParaRPr lang="en-IN" sz="2400" dirty="0"/>
          </a:p>
          <a:p>
            <a:endParaRPr lang="en-IN" dirty="0"/>
          </a:p>
        </p:txBody>
      </p:sp>
    </p:spTree>
    <p:extLst>
      <p:ext uri="{BB962C8B-B14F-4D97-AF65-F5344CB8AC3E}">
        <p14:creationId xmlns:p14="http://schemas.microsoft.com/office/powerpoint/2010/main" val="30132185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EDF1C-91F4-716D-C282-DC8709EB2095}"/>
              </a:ext>
            </a:extLst>
          </p:cNvPr>
          <p:cNvSpPr>
            <a:spLocks noGrp="1"/>
          </p:cNvSpPr>
          <p:nvPr>
            <p:ph type="title"/>
          </p:nvPr>
        </p:nvSpPr>
        <p:spPr/>
        <p:txBody>
          <a:bodyPr>
            <a:normAutofit/>
          </a:bodyPr>
          <a:lstStyle/>
          <a:p>
            <a:r>
              <a:rPr lang="en-IN" sz="4800" dirty="0">
                <a:solidFill>
                  <a:srgbClr val="FF0000"/>
                </a:solidFill>
              </a:rPr>
              <a:t>Dataset Integration</a:t>
            </a:r>
          </a:p>
        </p:txBody>
      </p:sp>
      <p:sp>
        <p:nvSpPr>
          <p:cNvPr id="3" name="Content Placeholder 2">
            <a:extLst>
              <a:ext uri="{FF2B5EF4-FFF2-40B4-BE49-F238E27FC236}">
                <a16:creationId xmlns:a16="http://schemas.microsoft.com/office/drawing/2014/main" id="{A2A446AC-1635-C2FC-E1D1-8DAE3578F800}"/>
              </a:ext>
            </a:extLst>
          </p:cNvPr>
          <p:cNvSpPr>
            <a:spLocks noGrp="1"/>
          </p:cNvSpPr>
          <p:nvPr>
            <p:ph idx="1"/>
          </p:nvPr>
        </p:nvSpPr>
        <p:spPr>
          <a:xfrm>
            <a:off x="1097280" y="2108201"/>
            <a:ext cx="10058400" cy="4190999"/>
          </a:xfrm>
        </p:spPr>
        <p:txBody>
          <a:bodyPr>
            <a:normAutofit lnSpcReduction="10000"/>
          </a:bodyPr>
          <a:lstStyle/>
          <a:p>
            <a:r>
              <a:rPr lang="en-US" sz="3600" b="1" dirty="0">
                <a:solidFill>
                  <a:srgbClr val="FF0000"/>
                </a:solidFill>
              </a:rPr>
              <a:t>Overview</a:t>
            </a:r>
          </a:p>
          <a:p>
            <a:r>
              <a:rPr lang="en-US" sz="2800" dirty="0"/>
              <a:t>       </a:t>
            </a:r>
            <a:r>
              <a:rPr lang="en-US" sz="2800" b="1" dirty="0">
                <a:solidFill>
                  <a:srgbClr val="00B050"/>
                </a:solidFill>
              </a:rPr>
              <a:t>Dataset integration refers to </a:t>
            </a:r>
            <a:r>
              <a:rPr lang="en-US" sz="2800" dirty="0"/>
              <a:t>the process of collecting, combining, cleaning, and transforming election data from multiple sources into a unified and structured format suitable for visualization and analysis.</a:t>
            </a:r>
          </a:p>
          <a:p>
            <a:r>
              <a:rPr lang="en-US" sz="2800" dirty="0"/>
              <a:t>            dataset integration ensures that raw election data is converted into accurate, consistent, and real-time ready dashboards for media reporting.</a:t>
            </a:r>
          </a:p>
          <a:p>
            <a:endParaRPr lang="en-IN" dirty="0"/>
          </a:p>
        </p:txBody>
      </p:sp>
    </p:spTree>
    <p:extLst>
      <p:ext uri="{BB962C8B-B14F-4D97-AF65-F5344CB8AC3E}">
        <p14:creationId xmlns:p14="http://schemas.microsoft.com/office/powerpoint/2010/main" val="20230741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C3816-5F35-3DAC-5A0B-F13D90196FFF}"/>
              </a:ext>
            </a:extLst>
          </p:cNvPr>
          <p:cNvSpPr>
            <a:spLocks noGrp="1"/>
          </p:cNvSpPr>
          <p:nvPr>
            <p:ph type="title"/>
          </p:nvPr>
        </p:nvSpPr>
        <p:spPr/>
        <p:txBody>
          <a:bodyPr>
            <a:normAutofit/>
          </a:bodyPr>
          <a:lstStyle/>
          <a:p>
            <a:r>
              <a:rPr lang="en-IN" sz="4800" dirty="0">
                <a:solidFill>
                  <a:srgbClr val="FF0000"/>
                </a:solidFill>
              </a:rPr>
              <a:t>Data Modelling</a:t>
            </a:r>
          </a:p>
        </p:txBody>
      </p:sp>
      <p:sp>
        <p:nvSpPr>
          <p:cNvPr id="3" name="Content Placeholder 2">
            <a:extLst>
              <a:ext uri="{FF2B5EF4-FFF2-40B4-BE49-F238E27FC236}">
                <a16:creationId xmlns:a16="http://schemas.microsoft.com/office/drawing/2014/main" id="{6D57DE08-1762-D73F-5F15-C3B5019785F2}"/>
              </a:ext>
            </a:extLst>
          </p:cNvPr>
          <p:cNvSpPr>
            <a:spLocks noGrp="1"/>
          </p:cNvSpPr>
          <p:nvPr>
            <p:ph idx="1"/>
          </p:nvPr>
        </p:nvSpPr>
        <p:spPr>
          <a:xfrm>
            <a:off x="1097280" y="2108201"/>
            <a:ext cx="10058400" cy="3804919"/>
          </a:xfrm>
        </p:spPr>
        <p:txBody>
          <a:bodyPr>
            <a:normAutofit/>
          </a:bodyPr>
          <a:lstStyle/>
          <a:p>
            <a:r>
              <a:rPr lang="en-US" sz="2800" dirty="0"/>
              <a:t>                               </a:t>
            </a:r>
            <a:r>
              <a:rPr lang="en-US" sz="2800" b="1" dirty="0">
                <a:solidFill>
                  <a:srgbClr val="00B050"/>
                </a:solidFill>
              </a:rPr>
              <a:t>Data modelling is the process of </a:t>
            </a:r>
            <a:r>
              <a:rPr lang="en-US" sz="2800" dirty="0"/>
              <a:t>designing the structure of the election dataset </a:t>
            </a:r>
            <a:r>
              <a:rPr lang="en-US" sz="2800" u="sng" dirty="0"/>
              <a:t>to organize relationships between different data entities</a:t>
            </a:r>
            <a:r>
              <a:rPr lang="en-US" sz="2800" dirty="0"/>
              <a:t> such as constituencies, candidates, parties, and results. It ensures efficient querying, accurate analysis, and smooth dashboard performance.</a:t>
            </a:r>
          </a:p>
          <a:p>
            <a:r>
              <a:rPr lang="en-US" sz="2800" dirty="0"/>
              <a:t>                      data modelling helps convert raw election data into a structured format suitable for visualization and reporting.</a:t>
            </a:r>
          </a:p>
          <a:p>
            <a:endParaRPr lang="en-IN" dirty="0"/>
          </a:p>
        </p:txBody>
      </p:sp>
    </p:spTree>
    <p:extLst>
      <p:ext uri="{BB962C8B-B14F-4D97-AF65-F5344CB8AC3E}">
        <p14:creationId xmlns:p14="http://schemas.microsoft.com/office/powerpoint/2010/main" val="40034442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Placeholder 21">
            <a:extLst>
              <a:ext uri="{FF2B5EF4-FFF2-40B4-BE49-F238E27FC236}">
                <a16:creationId xmlns:a16="http://schemas.microsoft.com/office/drawing/2014/main" id="{A8CBF2AD-7F65-6DAD-BD3A-560263B0D27C}"/>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t="13917" b="13917"/>
          <a:stretch>
            <a:fillRect/>
          </a:stretch>
        </p:blipFill>
        <p:spPr>
          <a:xfrm>
            <a:off x="0" y="985520"/>
            <a:ext cx="7763069" cy="3577149"/>
          </a:xfrm>
          <a:prstGeom prst="rect">
            <a:avLst/>
          </a:prstGeom>
          <a:solidFill>
            <a:srgbClr val="FFFFFF">
              <a:lumMod val="85000"/>
            </a:srgbClr>
          </a:solidFill>
        </p:spPr>
      </p:pic>
      <p:sp>
        <p:nvSpPr>
          <p:cNvPr id="2" name="TextBox 1">
            <a:extLst>
              <a:ext uri="{FF2B5EF4-FFF2-40B4-BE49-F238E27FC236}">
                <a16:creationId xmlns:a16="http://schemas.microsoft.com/office/drawing/2014/main" id="{2D3D6E1E-C5ED-F32B-4BD0-4862E35E59E5}"/>
              </a:ext>
            </a:extLst>
          </p:cNvPr>
          <p:cNvSpPr txBox="1"/>
          <p:nvPr/>
        </p:nvSpPr>
        <p:spPr>
          <a:xfrm>
            <a:off x="3778898" y="121298"/>
            <a:ext cx="3872204" cy="707886"/>
          </a:xfrm>
          <a:prstGeom prst="rect">
            <a:avLst/>
          </a:prstGeom>
          <a:noFill/>
        </p:spPr>
        <p:txBody>
          <a:bodyPr wrap="square" rtlCol="0">
            <a:spAutoFit/>
          </a:bodyPr>
          <a:lstStyle/>
          <a:p>
            <a:r>
              <a:rPr lang="en-IN" sz="4000" dirty="0">
                <a:solidFill>
                  <a:srgbClr val="FF0000"/>
                </a:solidFill>
              </a:rPr>
              <a:t>Data Modelling</a:t>
            </a:r>
          </a:p>
        </p:txBody>
      </p:sp>
      <p:sp>
        <p:nvSpPr>
          <p:cNvPr id="4" name="TextBox 3">
            <a:extLst>
              <a:ext uri="{FF2B5EF4-FFF2-40B4-BE49-F238E27FC236}">
                <a16:creationId xmlns:a16="http://schemas.microsoft.com/office/drawing/2014/main" id="{5229A7A5-A595-014D-3AFF-721570F25C2E}"/>
              </a:ext>
            </a:extLst>
          </p:cNvPr>
          <p:cNvSpPr txBox="1"/>
          <p:nvPr/>
        </p:nvSpPr>
        <p:spPr>
          <a:xfrm>
            <a:off x="7763069" y="1297442"/>
            <a:ext cx="4428931" cy="2862322"/>
          </a:xfrm>
          <a:prstGeom prst="rect">
            <a:avLst/>
          </a:prstGeom>
          <a:noFill/>
        </p:spPr>
        <p:txBody>
          <a:bodyPr wrap="square" rtlCol="0">
            <a:spAutoFit/>
          </a:bodyPr>
          <a:lstStyle/>
          <a:p>
            <a:r>
              <a:rPr lang="en-IN" sz="2000" dirty="0"/>
              <a:t>We used:</a:t>
            </a:r>
          </a:p>
          <a:p>
            <a:r>
              <a:rPr lang="en-IN" sz="2000" dirty="0">
                <a:solidFill>
                  <a:srgbClr val="FF0000"/>
                </a:solidFill>
              </a:rPr>
              <a:t>1. pie chart </a:t>
            </a:r>
            <a:r>
              <a:rPr lang="en-IN" sz="2000" dirty="0"/>
              <a:t>- number of candidates per state and their names</a:t>
            </a:r>
          </a:p>
          <a:p>
            <a:r>
              <a:rPr lang="en-IN" sz="2000" dirty="0">
                <a:solidFill>
                  <a:srgbClr val="FF0000"/>
                </a:solidFill>
              </a:rPr>
              <a:t>2. KPI Card </a:t>
            </a:r>
            <a:r>
              <a:rPr lang="en-IN" sz="2000" dirty="0"/>
              <a:t>- the name of the candidate and Total number of votes</a:t>
            </a:r>
          </a:p>
          <a:p>
            <a:r>
              <a:rPr lang="en-IN" sz="2000" dirty="0">
                <a:solidFill>
                  <a:srgbClr val="FF0000"/>
                </a:solidFill>
              </a:rPr>
              <a:t>3. Line and stacked column chart </a:t>
            </a:r>
            <a:r>
              <a:rPr lang="en-IN" sz="2000" dirty="0"/>
              <a:t>- sum of total votes by constituency name </a:t>
            </a:r>
          </a:p>
          <a:p>
            <a:r>
              <a:rPr lang="en-IN" sz="2000" dirty="0">
                <a:solidFill>
                  <a:srgbClr val="FF0000"/>
                </a:solidFill>
              </a:rPr>
              <a:t>4. Stacked bar chart </a:t>
            </a:r>
            <a:r>
              <a:rPr lang="en-IN" sz="2000" dirty="0"/>
              <a:t>- sum of total votes by candidate name.</a:t>
            </a:r>
          </a:p>
        </p:txBody>
      </p:sp>
      <p:sp>
        <p:nvSpPr>
          <p:cNvPr id="6" name="TextBox 5">
            <a:extLst>
              <a:ext uri="{FF2B5EF4-FFF2-40B4-BE49-F238E27FC236}">
                <a16:creationId xmlns:a16="http://schemas.microsoft.com/office/drawing/2014/main" id="{EB453779-A968-3DA4-7AE0-B2B47F65D447}"/>
              </a:ext>
            </a:extLst>
          </p:cNvPr>
          <p:cNvSpPr txBox="1"/>
          <p:nvPr/>
        </p:nvSpPr>
        <p:spPr>
          <a:xfrm>
            <a:off x="0" y="4637228"/>
            <a:ext cx="10935478" cy="1569660"/>
          </a:xfrm>
          <a:prstGeom prst="rect">
            <a:avLst/>
          </a:prstGeom>
          <a:noFill/>
        </p:spPr>
        <p:txBody>
          <a:bodyPr wrap="square" rtlCol="0">
            <a:spAutoFit/>
          </a:bodyPr>
          <a:lstStyle/>
          <a:p>
            <a:r>
              <a:rPr lang="en-IN" sz="2400" b="1" dirty="0">
                <a:solidFill>
                  <a:srgbClr val="00B050"/>
                </a:solidFill>
              </a:rPr>
              <a:t>TO UNDERSTAND:</a:t>
            </a:r>
          </a:p>
          <a:p>
            <a:r>
              <a:rPr lang="en-IN" sz="2400" dirty="0">
                <a:solidFill>
                  <a:srgbClr val="FFFF00"/>
                </a:solidFill>
              </a:rPr>
              <a:t>1. how many votes are gained by the parties, the name of the candidate.</a:t>
            </a:r>
          </a:p>
          <a:p>
            <a:r>
              <a:rPr lang="en-IN" sz="2400" dirty="0">
                <a:solidFill>
                  <a:srgbClr val="FFFF00"/>
                </a:solidFill>
              </a:rPr>
              <a:t>2. the constituency name and the percentage share taken by each state in the pie chart.</a:t>
            </a:r>
          </a:p>
        </p:txBody>
      </p:sp>
    </p:spTree>
    <p:extLst>
      <p:ext uri="{BB962C8B-B14F-4D97-AF65-F5344CB8AC3E}">
        <p14:creationId xmlns:p14="http://schemas.microsoft.com/office/powerpoint/2010/main" val="19533891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586FF8-A838-84AC-107E-6C28E714EA31}"/>
              </a:ext>
            </a:extLst>
          </p:cNvPr>
          <p:cNvSpPr>
            <a:spLocks noGrp="1"/>
          </p:cNvSpPr>
          <p:nvPr>
            <p:ph type="title"/>
          </p:nvPr>
        </p:nvSpPr>
        <p:spPr/>
        <p:txBody>
          <a:bodyPr>
            <a:normAutofit/>
          </a:bodyPr>
          <a:lstStyle/>
          <a:p>
            <a:r>
              <a:rPr lang="en-IN" sz="4800" dirty="0">
                <a:solidFill>
                  <a:srgbClr val="FF0000"/>
                </a:solidFill>
              </a:rPr>
              <a:t>Historical Trends </a:t>
            </a:r>
          </a:p>
        </p:txBody>
      </p:sp>
      <p:sp>
        <p:nvSpPr>
          <p:cNvPr id="3" name="Content Placeholder 2">
            <a:extLst>
              <a:ext uri="{FF2B5EF4-FFF2-40B4-BE49-F238E27FC236}">
                <a16:creationId xmlns:a16="http://schemas.microsoft.com/office/drawing/2014/main" id="{2740FAEB-0168-8508-57EB-C10292FB72A0}"/>
              </a:ext>
            </a:extLst>
          </p:cNvPr>
          <p:cNvSpPr>
            <a:spLocks noGrp="1"/>
          </p:cNvSpPr>
          <p:nvPr>
            <p:ph idx="1"/>
          </p:nvPr>
        </p:nvSpPr>
        <p:spPr>
          <a:xfrm>
            <a:off x="1097280" y="2108201"/>
            <a:ext cx="10058400" cy="4221479"/>
          </a:xfrm>
        </p:spPr>
        <p:txBody>
          <a:bodyPr>
            <a:normAutofit lnSpcReduction="10000"/>
          </a:bodyPr>
          <a:lstStyle/>
          <a:p>
            <a:r>
              <a:rPr lang="en-US" sz="3600" b="1" dirty="0">
                <a:solidFill>
                  <a:srgbClr val="00B050"/>
                </a:solidFill>
              </a:rPr>
              <a:t>Historical trends analysis focuses on </a:t>
            </a:r>
            <a:r>
              <a:rPr lang="en-US" sz="3600" u="sng" dirty="0"/>
              <a:t>examining past election data across multiple years to identify </a:t>
            </a:r>
            <a:r>
              <a:rPr lang="en-US" sz="3600" dirty="0"/>
              <a:t>patterns, </a:t>
            </a:r>
            <a:r>
              <a:rPr lang="en-US" sz="3600" u="sng" dirty="0"/>
              <a:t>changes in voter behavior</a:t>
            </a:r>
            <a:r>
              <a:rPr lang="en-US" sz="3600" dirty="0"/>
              <a:t>, party performance shifts, and regional voting dynamics. This helps media organizations present comparative insights and long-term political developments.</a:t>
            </a:r>
          </a:p>
          <a:p>
            <a:endParaRPr lang="en-IN" dirty="0"/>
          </a:p>
        </p:txBody>
      </p:sp>
    </p:spTree>
    <p:extLst>
      <p:ext uri="{BB962C8B-B14F-4D97-AF65-F5344CB8AC3E}">
        <p14:creationId xmlns:p14="http://schemas.microsoft.com/office/powerpoint/2010/main" val="28464707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49">
            <a:extLst>
              <a:ext uri="{FF2B5EF4-FFF2-40B4-BE49-F238E27FC236}">
                <a16:creationId xmlns:a16="http://schemas.microsoft.com/office/drawing/2014/main" id="{C6D926F2-E9C6-3585-8282-A4C8AA41A03B}"/>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t="9559" b="9559"/>
          <a:stretch>
            <a:fillRect/>
          </a:stretch>
        </p:blipFill>
        <p:spPr>
          <a:xfrm>
            <a:off x="0" y="927680"/>
            <a:ext cx="7529804" cy="3686966"/>
          </a:xfrm>
          <a:prstGeom prst="rect">
            <a:avLst/>
          </a:prstGeom>
          <a:solidFill>
            <a:srgbClr val="FFFFFF">
              <a:lumMod val="85000"/>
            </a:srgbClr>
          </a:solidFill>
        </p:spPr>
      </p:pic>
      <p:sp>
        <p:nvSpPr>
          <p:cNvPr id="2" name="TextBox 1">
            <a:extLst>
              <a:ext uri="{FF2B5EF4-FFF2-40B4-BE49-F238E27FC236}">
                <a16:creationId xmlns:a16="http://schemas.microsoft.com/office/drawing/2014/main" id="{35E7982F-1082-B022-3659-17FF58137CCC}"/>
              </a:ext>
            </a:extLst>
          </p:cNvPr>
          <p:cNvSpPr txBox="1"/>
          <p:nvPr/>
        </p:nvSpPr>
        <p:spPr>
          <a:xfrm>
            <a:off x="3041780" y="-83976"/>
            <a:ext cx="9060024" cy="1015663"/>
          </a:xfrm>
          <a:prstGeom prst="rect">
            <a:avLst/>
          </a:prstGeom>
          <a:noFill/>
        </p:spPr>
        <p:txBody>
          <a:bodyPr wrap="square" rtlCol="0">
            <a:spAutoFit/>
          </a:bodyPr>
          <a:lstStyle/>
          <a:p>
            <a:r>
              <a:rPr lang="en-IN" sz="6000" dirty="0">
                <a:solidFill>
                  <a:srgbClr val="FF0000"/>
                </a:solidFill>
              </a:rPr>
              <a:t>Historic Trends</a:t>
            </a:r>
          </a:p>
        </p:txBody>
      </p:sp>
      <p:sp>
        <p:nvSpPr>
          <p:cNvPr id="4" name="TextBox 3">
            <a:extLst>
              <a:ext uri="{FF2B5EF4-FFF2-40B4-BE49-F238E27FC236}">
                <a16:creationId xmlns:a16="http://schemas.microsoft.com/office/drawing/2014/main" id="{575D20D8-1D10-FF47-65AF-0F71CFE6281B}"/>
              </a:ext>
            </a:extLst>
          </p:cNvPr>
          <p:cNvSpPr txBox="1"/>
          <p:nvPr/>
        </p:nvSpPr>
        <p:spPr>
          <a:xfrm>
            <a:off x="7643327" y="1063003"/>
            <a:ext cx="4548673" cy="3416320"/>
          </a:xfrm>
          <a:prstGeom prst="rect">
            <a:avLst/>
          </a:prstGeom>
          <a:noFill/>
        </p:spPr>
        <p:txBody>
          <a:bodyPr wrap="square" rtlCol="0">
            <a:spAutoFit/>
          </a:bodyPr>
          <a:lstStyle/>
          <a:p>
            <a:r>
              <a:rPr lang="en-IN" sz="2400" dirty="0"/>
              <a:t>We used:</a:t>
            </a:r>
            <a:br>
              <a:rPr lang="en-IN" sz="2400" dirty="0"/>
            </a:br>
            <a:r>
              <a:rPr lang="en-IN" sz="2400" dirty="0">
                <a:solidFill>
                  <a:srgbClr val="FF0000"/>
                </a:solidFill>
              </a:rPr>
              <a:t>1. pie chart </a:t>
            </a:r>
            <a:r>
              <a:rPr lang="en-IN" sz="2400" dirty="0"/>
              <a:t>- total number of votes per gender.</a:t>
            </a:r>
            <a:br>
              <a:rPr lang="en-IN" sz="2400" dirty="0"/>
            </a:br>
            <a:r>
              <a:rPr lang="en-IN" sz="2400" dirty="0">
                <a:solidFill>
                  <a:srgbClr val="FF0000"/>
                </a:solidFill>
              </a:rPr>
              <a:t>2. Line and stacked column chart </a:t>
            </a:r>
            <a:r>
              <a:rPr lang="en-IN" sz="2400" dirty="0"/>
              <a:t>- sum of total votes by state name and Gender.</a:t>
            </a:r>
            <a:br>
              <a:rPr lang="en-IN" sz="2400" dirty="0"/>
            </a:br>
            <a:r>
              <a:rPr lang="en-IN" sz="2400" dirty="0">
                <a:solidFill>
                  <a:srgbClr val="FF0000"/>
                </a:solidFill>
              </a:rPr>
              <a:t>3. Clustered bar chart </a:t>
            </a:r>
            <a:r>
              <a:rPr lang="en-IN" sz="2400" dirty="0"/>
              <a:t>- sum of votes for state and the number of male and female votes.</a:t>
            </a:r>
          </a:p>
        </p:txBody>
      </p:sp>
      <p:sp>
        <p:nvSpPr>
          <p:cNvPr id="9" name="TextBox 8">
            <a:extLst>
              <a:ext uri="{FF2B5EF4-FFF2-40B4-BE49-F238E27FC236}">
                <a16:creationId xmlns:a16="http://schemas.microsoft.com/office/drawing/2014/main" id="{A4D5DC35-0682-157E-61F9-883676E5919E}"/>
              </a:ext>
            </a:extLst>
          </p:cNvPr>
          <p:cNvSpPr txBox="1"/>
          <p:nvPr/>
        </p:nvSpPr>
        <p:spPr>
          <a:xfrm>
            <a:off x="419879" y="4601308"/>
            <a:ext cx="8462864" cy="1846659"/>
          </a:xfrm>
          <a:prstGeom prst="rect">
            <a:avLst/>
          </a:prstGeom>
          <a:noFill/>
        </p:spPr>
        <p:txBody>
          <a:bodyPr wrap="square" rtlCol="0">
            <a:spAutoFit/>
          </a:bodyPr>
          <a:lstStyle/>
          <a:p>
            <a:r>
              <a:rPr lang="en-IN" sz="2400" dirty="0">
                <a:solidFill>
                  <a:srgbClr val="00B050"/>
                </a:solidFill>
              </a:rPr>
              <a:t>TO UNDERSTAND:</a:t>
            </a:r>
          </a:p>
          <a:p>
            <a:r>
              <a:rPr lang="en-IN" sz="2400" dirty="0">
                <a:solidFill>
                  <a:srgbClr val="FFFF00"/>
                </a:solidFill>
              </a:rPr>
              <a:t>1. how many votes are gained by the states per gender.</a:t>
            </a:r>
            <a:br>
              <a:rPr lang="en-IN" sz="2400" dirty="0">
                <a:solidFill>
                  <a:srgbClr val="FFFF00"/>
                </a:solidFill>
              </a:rPr>
            </a:br>
            <a:r>
              <a:rPr lang="en-IN" sz="2400" dirty="0">
                <a:solidFill>
                  <a:srgbClr val="FFFF00"/>
                </a:solidFill>
              </a:rPr>
              <a:t>2. the percentage of the male and female voters.</a:t>
            </a:r>
            <a:br>
              <a:rPr lang="en-IN" sz="2400" dirty="0">
                <a:solidFill>
                  <a:srgbClr val="FFFF00"/>
                </a:solidFill>
              </a:rPr>
            </a:br>
            <a:r>
              <a:rPr lang="en-IN" sz="2400" dirty="0">
                <a:solidFill>
                  <a:srgbClr val="FFFF00"/>
                </a:solidFill>
              </a:rPr>
              <a:t>3. the number of male and female members in a party</a:t>
            </a:r>
            <a:r>
              <a:rPr lang="en-IN" dirty="0">
                <a:solidFill>
                  <a:srgbClr val="FFFF00"/>
                </a:solidFill>
              </a:rPr>
              <a:t>.</a:t>
            </a:r>
            <a:br>
              <a:rPr lang="en-IN" dirty="0"/>
            </a:br>
            <a:endParaRPr lang="en-IN" dirty="0"/>
          </a:p>
        </p:txBody>
      </p:sp>
    </p:spTree>
    <p:extLst>
      <p:ext uri="{BB962C8B-B14F-4D97-AF65-F5344CB8AC3E}">
        <p14:creationId xmlns:p14="http://schemas.microsoft.com/office/powerpoint/2010/main" val="7772091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2DC1B0-4481-A30A-D026-5656C918EC3E}"/>
              </a:ext>
            </a:extLst>
          </p:cNvPr>
          <p:cNvSpPr>
            <a:spLocks noGrp="1"/>
          </p:cNvSpPr>
          <p:nvPr>
            <p:ph type="title"/>
          </p:nvPr>
        </p:nvSpPr>
        <p:spPr/>
        <p:txBody>
          <a:bodyPr>
            <a:normAutofit/>
          </a:bodyPr>
          <a:lstStyle/>
          <a:p>
            <a:r>
              <a:rPr lang="en-IN" sz="4800" dirty="0">
                <a:solidFill>
                  <a:srgbClr val="FF0000"/>
                </a:solidFill>
              </a:rPr>
              <a:t>Real Time Results</a:t>
            </a:r>
          </a:p>
        </p:txBody>
      </p:sp>
      <p:sp>
        <p:nvSpPr>
          <p:cNvPr id="3" name="Content Placeholder 2">
            <a:extLst>
              <a:ext uri="{FF2B5EF4-FFF2-40B4-BE49-F238E27FC236}">
                <a16:creationId xmlns:a16="http://schemas.microsoft.com/office/drawing/2014/main" id="{7032737B-F6D5-FC76-B14C-B184E032663D}"/>
              </a:ext>
            </a:extLst>
          </p:cNvPr>
          <p:cNvSpPr>
            <a:spLocks noGrp="1"/>
          </p:cNvSpPr>
          <p:nvPr>
            <p:ph idx="1"/>
          </p:nvPr>
        </p:nvSpPr>
        <p:spPr>
          <a:xfrm>
            <a:off x="1097280" y="1899921"/>
            <a:ext cx="10058400" cy="4439920"/>
          </a:xfrm>
        </p:spPr>
        <p:txBody>
          <a:bodyPr>
            <a:normAutofit lnSpcReduction="10000"/>
          </a:bodyPr>
          <a:lstStyle/>
          <a:p>
            <a:r>
              <a:rPr lang="en-US" dirty="0"/>
              <a:t>       </a:t>
            </a:r>
            <a:r>
              <a:rPr lang="en-US" sz="3200" b="1" dirty="0">
                <a:solidFill>
                  <a:srgbClr val="00B050"/>
                </a:solidFill>
              </a:rPr>
              <a:t>Real-Time Results refers to </a:t>
            </a:r>
            <a:r>
              <a:rPr lang="en-US" sz="3200" u="sng" dirty="0"/>
              <a:t>the live tracking and visualization of election data</a:t>
            </a:r>
            <a:r>
              <a:rPr lang="en-US" sz="3200" dirty="0"/>
              <a:t> as it is officially announced. This feature enables media organizations to broadcast up-to-date election outcomes with accuracy, speed, and clarity.</a:t>
            </a:r>
          </a:p>
          <a:p>
            <a:pPr marL="0" indent="0">
              <a:buNone/>
            </a:pPr>
            <a:r>
              <a:rPr lang="en-US" sz="3200" dirty="0"/>
              <a:t> live data feeds and automatically updates dashboards to reflect current vote counts, leading candidates, seat tallies, and party performance in real time.</a:t>
            </a:r>
          </a:p>
          <a:p>
            <a:endParaRPr lang="en-IN" dirty="0"/>
          </a:p>
        </p:txBody>
      </p:sp>
    </p:spTree>
    <p:extLst>
      <p:ext uri="{BB962C8B-B14F-4D97-AF65-F5344CB8AC3E}">
        <p14:creationId xmlns:p14="http://schemas.microsoft.com/office/powerpoint/2010/main" val="30499804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Picture 31">
            <a:extLst>
              <a:ext uri="{FF2B5EF4-FFF2-40B4-BE49-F238E27FC236}">
                <a16:creationId xmlns:a16="http://schemas.microsoft.com/office/drawing/2014/main" id="{818B6144-8F7D-BB3D-0A87-8248DA4218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660433" cy="4590661"/>
          </a:xfrm>
          <a:prstGeom prst="rect">
            <a:avLst/>
          </a:prstGeom>
        </p:spPr>
      </p:pic>
      <p:sp>
        <p:nvSpPr>
          <p:cNvPr id="2" name="TextBox 1">
            <a:extLst>
              <a:ext uri="{FF2B5EF4-FFF2-40B4-BE49-F238E27FC236}">
                <a16:creationId xmlns:a16="http://schemas.microsoft.com/office/drawing/2014/main" id="{C67B8517-EE41-0682-DEA1-0A57E5A71A8C}"/>
              </a:ext>
            </a:extLst>
          </p:cNvPr>
          <p:cNvSpPr txBox="1"/>
          <p:nvPr/>
        </p:nvSpPr>
        <p:spPr>
          <a:xfrm>
            <a:off x="354563" y="4642009"/>
            <a:ext cx="7987004" cy="2215991"/>
          </a:xfrm>
          <a:prstGeom prst="rect">
            <a:avLst/>
          </a:prstGeom>
          <a:noFill/>
        </p:spPr>
        <p:txBody>
          <a:bodyPr wrap="square" rtlCol="0">
            <a:spAutoFit/>
          </a:bodyPr>
          <a:lstStyle/>
          <a:p>
            <a:r>
              <a:rPr lang="en-IN" sz="2400" dirty="0">
                <a:solidFill>
                  <a:srgbClr val="00B050"/>
                </a:solidFill>
              </a:rPr>
              <a:t>TO UNDERSTAND:</a:t>
            </a:r>
          </a:p>
          <a:p>
            <a:r>
              <a:rPr lang="en-IN" sz="2400" dirty="0">
                <a:solidFill>
                  <a:srgbClr val="FFFF00"/>
                </a:solidFill>
              </a:rPr>
              <a:t>1. how many votes are gained by the states</a:t>
            </a:r>
            <a:br>
              <a:rPr lang="en-IN" sz="2400" dirty="0">
                <a:solidFill>
                  <a:srgbClr val="FFFF00"/>
                </a:solidFill>
              </a:rPr>
            </a:br>
            <a:r>
              <a:rPr lang="en-IN" sz="2400" dirty="0">
                <a:solidFill>
                  <a:srgbClr val="FFFF00"/>
                </a:solidFill>
              </a:rPr>
              <a:t>2. the leading party</a:t>
            </a:r>
            <a:br>
              <a:rPr lang="en-IN" sz="2400" dirty="0">
                <a:solidFill>
                  <a:srgbClr val="FFFF00"/>
                </a:solidFill>
              </a:rPr>
            </a:br>
            <a:r>
              <a:rPr lang="en-IN" sz="2400" dirty="0">
                <a:solidFill>
                  <a:srgbClr val="FFFF00"/>
                </a:solidFill>
              </a:rPr>
              <a:t>3. the number of seats won and</a:t>
            </a:r>
            <a:br>
              <a:rPr lang="en-IN" sz="2400" dirty="0">
                <a:solidFill>
                  <a:srgbClr val="FFFF00"/>
                </a:solidFill>
              </a:rPr>
            </a:br>
            <a:r>
              <a:rPr lang="en-IN" sz="2400" dirty="0">
                <a:solidFill>
                  <a:srgbClr val="FFFF00"/>
                </a:solidFill>
              </a:rPr>
              <a:t>4. the leading state.</a:t>
            </a:r>
            <a:br>
              <a:rPr lang="en-IN" sz="1600" dirty="0">
                <a:solidFill>
                  <a:srgbClr val="FFFF00"/>
                </a:solidFill>
              </a:rPr>
            </a:br>
            <a:endParaRPr lang="en-IN" dirty="0">
              <a:solidFill>
                <a:srgbClr val="FFFF00"/>
              </a:solidFill>
            </a:endParaRPr>
          </a:p>
        </p:txBody>
      </p:sp>
      <p:sp>
        <p:nvSpPr>
          <p:cNvPr id="3" name="TextBox 2">
            <a:extLst>
              <a:ext uri="{FF2B5EF4-FFF2-40B4-BE49-F238E27FC236}">
                <a16:creationId xmlns:a16="http://schemas.microsoft.com/office/drawing/2014/main" id="{81727684-B89A-793D-A5A6-50A10671ECB2}"/>
              </a:ext>
            </a:extLst>
          </p:cNvPr>
          <p:cNvSpPr txBox="1"/>
          <p:nvPr/>
        </p:nvSpPr>
        <p:spPr>
          <a:xfrm>
            <a:off x="7725747" y="114300"/>
            <a:ext cx="4329404" cy="4524315"/>
          </a:xfrm>
          <a:prstGeom prst="rect">
            <a:avLst/>
          </a:prstGeom>
          <a:noFill/>
        </p:spPr>
        <p:txBody>
          <a:bodyPr wrap="square" rtlCol="0">
            <a:spAutoFit/>
          </a:bodyPr>
          <a:lstStyle/>
          <a:p>
            <a:r>
              <a:rPr lang="en-IN"/>
              <a:t>We used:</a:t>
            </a:r>
            <a:br>
              <a:rPr lang="en-IN"/>
            </a:br>
            <a:r>
              <a:rPr lang="en-IN">
                <a:solidFill>
                  <a:srgbClr val="FF0000"/>
                </a:solidFill>
              </a:rPr>
              <a:t>1. pie chart </a:t>
            </a:r>
            <a:r>
              <a:rPr lang="en-IN"/>
              <a:t>- sum of the sets won by the party</a:t>
            </a:r>
            <a:br>
              <a:rPr lang="en-IN"/>
            </a:br>
            <a:r>
              <a:rPr lang="en-IN">
                <a:solidFill>
                  <a:srgbClr val="FF0000"/>
                </a:solidFill>
              </a:rPr>
              <a:t>2. Line chart </a:t>
            </a:r>
            <a:r>
              <a:rPr lang="en-IN"/>
              <a:t>- sum of seats won by the State</a:t>
            </a:r>
            <a:br>
              <a:rPr lang="en-IN"/>
            </a:br>
            <a:r>
              <a:rPr lang="en-IN">
                <a:solidFill>
                  <a:srgbClr val="FF0000"/>
                </a:solidFill>
              </a:rPr>
              <a:t>3. Stacked column chart </a:t>
            </a:r>
            <a:r>
              <a:rPr lang="en-IN"/>
              <a:t>- sum of total electors for State </a:t>
            </a:r>
            <a:br>
              <a:rPr lang="en-IN"/>
            </a:br>
            <a:r>
              <a:rPr lang="en-IN">
                <a:solidFill>
                  <a:srgbClr val="FF0000"/>
                </a:solidFill>
              </a:rPr>
              <a:t>4. Multirow card </a:t>
            </a:r>
            <a:r>
              <a:rPr lang="en-IN"/>
              <a:t>– state, no of parties, margin and total votes</a:t>
            </a:r>
            <a:br>
              <a:rPr lang="en-IN"/>
            </a:br>
            <a:r>
              <a:rPr lang="en-IN">
                <a:solidFill>
                  <a:srgbClr val="FF0000"/>
                </a:solidFill>
              </a:rPr>
              <a:t>5. Table </a:t>
            </a:r>
            <a:r>
              <a:rPr lang="en-IN"/>
              <a:t>– party, sum of won and the name of the state</a:t>
            </a:r>
            <a:br>
              <a:rPr lang="en-IN"/>
            </a:br>
            <a:r>
              <a:rPr lang="en-IN">
                <a:solidFill>
                  <a:srgbClr val="FF0000"/>
                </a:solidFill>
              </a:rPr>
              <a:t>6. Donut chart </a:t>
            </a:r>
            <a:r>
              <a:rPr lang="en-IN"/>
              <a:t>- state and count of leading party</a:t>
            </a:r>
            <a:br>
              <a:rPr lang="en-IN"/>
            </a:br>
            <a:r>
              <a:rPr lang="en-IN">
                <a:solidFill>
                  <a:srgbClr val="FF0000"/>
                </a:solidFill>
              </a:rPr>
              <a:t>7. KPI card </a:t>
            </a:r>
            <a:r>
              <a:rPr lang="en-IN"/>
              <a:t>- showing how many seats was won by the specific state and the total votes of the leading party</a:t>
            </a:r>
            <a:endParaRPr lang="en-IN" dirty="0"/>
          </a:p>
        </p:txBody>
      </p:sp>
    </p:spTree>
    <p:extLst>
      <p:ext uri="{BB962C8B-B14F-4D97-AF65-F5344CB8AC3E}">
        <p14:creationId xmlns:p14="http://schemas.microsoft.com/office/powerpoint/2010/main" val="23124099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05F043-A82E-F432-73F8-F29259298B91}"/>
              </a:ext>
            </a:extLst>
          </p:cNvPr>
          <p:cNvSpPr>
            <a:spLocks noGrp="1"/>
          </p:cNvSpPr>
          <p:nvPr>
            <p:ph type="title"/>
          </p:nvPr>
        </p:nvSpPr>
        <p:spPr/>
        <p:txBody>
          <a:bodyPr>
            <a:normAutofit/>
          </a:bodyPr>
          <a:lstStyle/>
          <a:p>
            <a:r>
              <a:rPr lang="en-IN" sz="4800" dirty="0">
                <a:solidFill>
                  <a:srgbClr val="FF0000"/>
                </a:solidFill>
              </a:rPr>
              <a:t>Turnout and demographic analysis</a:t>
            </a:r>
          </a:p>
        </p:txBody>
      </p:sp>
      <p:sp>
        <p:nvSpPr>
          <p:cNvPr id="3" name="Content Placeholder 2">
            <a:extLst>
              <a:ext uri="{FF2B5EF4-FFF2-40B4-BE49-F238E27FC236}">
                <a16:creationId xmlns:a16="http://schemas.microsoft.com/office/drawing/2014/main" id="{CF069AE0-1930-573D-5EAC-881363E89774}"/>
              </a:ext>
            </a:extLst>
          </p:cNvPr>
          <p:cNvSpPr>
            <a:spLocks noGrp="1"/>
          </p:cNvSpPr>
          <p:nvPr>
            <p:ph idx="1"/>
          </p:nvPr>
        </p:nvSpPr>
        <p:spPr/>
        <p:txBody>
          <a:bodyPr>
            <a:noAutofit/>
          </a:bodyPr>
          <a:lstStyle/>
          <a:p>
            <a:r>
              <a:rPr lang="en-US" sz="2400" b="1" dirty="0">
                <a:solidFill>
                  <a:srgbClr val="00B050"/>
                </a:solidFill>
              </a:rPr>
              <a:t>Turnout and demographic analysis in data visualization refers to </a:t>
            </a:r>
            <a:r>
              <a:rPr lang="en-US" sz="2400" u="sng" dirty="0"/>
              <a:t>the process of studying </a:t>
            </a:r>
            <a:r>
              <a:rPr lang="en-US" sz="2400" b="1" u="sng" dirty="0"/>
              <a:t>how many people participate in an event (turnout)</a:t>
            </a:r>
            <a:r>
              <a:rPr lang="en-US" sz="2400" u="sng" dirty="0"/>
              <a:t> and </a:t>
            </a:r>
            <a:r>
              <a:rPr lang="en-US" sz="2400" b="1" u="sng" dirty="0"/>
              <a:t>the characteristics of those people (demographics)</a:t>
            </a:r>
            <a:r>
              <a:rPr lang="en-US" sz="2400" dirty="0"/>
              <a:t> such as age, gender, education, income, and location. This analysis helps understand participation patterns and differences among various groups in a population.</a:t>
            </a:r>
          </a:p>
          <a:p>
            <a:r>
              <a:rPr lang="en-US" sz="2400" dirty="0"/>
              <a:t>       turnout analysis shows the percentage of people who voted, while demographic analysis shows which age groups or regions had higher or lower participation. Together, they help researchers, organizations, and governments understand behavior and improve strategies or policies.</a:t>
            </a:r>
            <a:endParaRPr lang="en-IN" sz="2400" dirty="0"/>
          </a:p>
        </p:txBody>
      </p:sp>
    </p:spTree>
    <p:extLst>
      <p:ext uri="{BB962C8B-B14F-4D97-AF65-F5344CB8AC3E}">
        <p14:creationId xmlns:p14="http://schemas.microsoft.com/office/powerpoint/2010/main" val="31256020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C3E8E24-F294-CE7E-1066-347B7EE46D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6932645" cy="4572000"/>
          </a:xfrm>
          <a:prstGeom prst="rect">
            <a:avLst/>
          </a:prstGeom>
        </p:spPr>
      </p:pic>
      <p:sp>
        <p:nvSpPr>
          <p:cNvPr id="2" name="TextBox 1">
            <a:extLst>
              <a:ext uri="{FF2B5EF4-FFF2-40B4-BE49-F238E27FC236}">
                <a16:creationId xmlns:a16="http://schemas.microsoft.com/office/drawing/2014/main" id="{5659C397-0B6C-99D7-4543-745603068978}"/>
              </a:ext>
            </a:extLst>
          </p:cNvPr>
          <p:cNvSpPr txBox="1"/>
          <p:nvPr/>
        </p:nvSpPr>
        <p:spPr>
          <a:xfrm>
            <a:off x="120519" y="4735284"/>
            <a:ext cx="8584941" cy="1569660"/>
          </a:xfrm>
          <a:prstGeom prst="rect">
            <a:avLst/>
          </a:prstGeom>
          <a:noFill/>
        </p:spPr>
        <p:txBody>
          <a:bodyPr wrap="square" rtlCol="0">
            <a:spAutoFit/>
          </a:bodyPr>
          <a:lstStyle/>
          <a:p>
            <a:r>
              <a:rPr lang="en-IN" sz="2400" dirty="0">
                <a:solidFill>
                  <a:srgbClr val="00B050"/>
                </a:solidFill>
              </a:rPr>
              <a:t>TO UNDERSTAND:</a:t>
            </a:r>
          </a:p>
          <a:p>
            <a:pPr marL="342900" indent="-342900">
              <a:buAutoNum type="arabicPeriod"/>
            </a:pPr>
            <a:r>
              <a:rPr lang="en-IN" sz="2400" dirty="0">
                <a:solidFill>
                  <a:srgbClr val="FFFF00"/>
                </a:solidFill>
              </a:rPr>
              <a:t>the turnout percentage of every party in the particular state.</a:t>
            </a:r>
          </a:p>
          <a:p>
            <a:pPr marL="342900" indent="-342900">
              <a:buAutoNum type="arabicPeriod"/>
            </a:pPr>
            <a:r>
              <a:rPr lang="en-IN" sz="2400" dirty="0">
                <a:solidFill>
                  <a:srgbClr val="FFFF00"/>
                </a:solidFill>
              </a:rPr>
              <a:t>Percentage of male and female votes.</a:t>
            </a:r>
          </a:p>
          <a:p>
            <a:pPr marL="342900" indent="-342900">
              <a:buAutoNum type="arabicPeriod"/>
            </a:pPr>
            <a:r>
              <a:rPr lang="en-IN" sz="2400" dirty="0">
                <a:solidFill>
                  <a:srgbClr val="FFFF00"/>
                </a:solidFill>
              </a:rPr>
              <a:t>The percentage of winning margin </a:t>
            </a:r>
          </a:p>
        </p:txBody>
      </p:sp>
      <p:sp>
        <p:nvSpPr>
          <p:cNvPr id="3" name="TextBox 2">
            <a:extLst>
              <a:ext uri="{FF2B5EF4-FFF2-40B4-BE49-F238E27FC236}">
                <a16:creationId xmlns:a16="http://schemas.microsoft.com/office/drawing/2014/main" id="{A4F33946-35CC-93CC-05FD-C05D335F5723}"/>
              </a:ext>
            </a:extLst>
          </p:cNvPr>
          <p:cNvSpPr txBox="1"/>
          <p:nvPr/>
        </p:nvSpPr>
        <p:spPr>
          <a:xfrm>
            <a:off x="6932645" y="0"/>
            <a:ext cx="5259355" cy="4493538"/>
          </a:xfrm>
          <a:prstGeom prst="rect">
            <a:avLst/>
          </a:prstGeom>
          <a:noFill/>
        </p:spPr>
        <p:txBody>
          <a:bodyPr wrap="square" rtlCol="0">
            <a:spAutoFit/>
          </a:bodyPr>
          <a:lstStyle/>
          <a:p>
            <a:r>
              <a:rPr lang="en-IN" sz="2200" dirty="0"/>
              <a:t>we used:</a:t>
            </a:r>
            <a:br>
              <a:rPr lang="en-IN" sz="2200" dirty="0"/>
            </a:br>
            <a:r>
              <a:rPr lang="en-IN" sz="2200" dirty="0">
                <a:solidFill>
                  <a:srgbClr val="FF0000"/>
                </a:solidFill>
              </a:rPr>
              <a:t>1. the slicers </a:t>
            </a:r>
            <a:r>
              <a:rPr lang="en-IN" sz="2200" dirty="0"/>
              <a:t>- state names and party</a:t>
            </a:r>
            <a:br>
              <a:rPr lang="en-IN" sz="2200" dirty="0"/>
            </a:br>
            <a:r>
              <a:rPr lang="en-IN" sz="2200" dirty="0">
                <a:solidFill>
                  <a:srgbClr val="FF0000"/>
                </a:solidFill>
              </a:rPr>
              <a:t>2.  Maps </a:t>
            </a:r>
            <a:r>
              <a:rPr lang="en-IN" sz="2200" dirty="0"/>
              <a:t>- state name and winning margin </a:t>
            </a:r>
            <a:br>
              <a:rPr lang="en-IN" sz="2200" dirty="0"/>
            </a:br>
            <a:r>
              <a:rPr lang="en-IN" sz="2200" dirty="0">
                <a:solidFill>
                  <a:srgbClr val="FF0000"/>
                </a:solidFill>
              </a:rPr>
              <a:t>3. Line chart </a:t>
            </a:r>
            <a:r>
              <a:rPr lang="en-IN" sz="2200" dirty="0"/>
              <a:t>- party name winning margin, total number of votes, total number of turn out percentage and</a:t>
            </a:r>
            <a:br>
              <a:rPr lang="en-IN" sz="2200" dirty="0"/>
            </a:br>
            <a:r>
              <a:rPr lang="en-IN" sz="2200" dirty="0">
                <a:solidFill>
                  <a:srgbClr val="FF0000"/>
                </a:solidFill>
              </a:rPr>
              <a:t>4. table </a:t>
            </a:r>
            <a:r>
              <a:rPr lang="en-IN" sz="2200" dirty="0"/>
              <a:t>- state name ,party name ,total winning margin and total turn out percentage</a:t>
            </a:r>
            <a:br>
              <a:rPr lang="en-IN" sz="2200" dirty="0"/>
            </a:br>
            <a:r>
              <a:rPr lang="en-IN" sz="2200" dirty="0">
                <a:solidFill>
                  <a:srgbClr val="FF0000"/>
                </a:solidFill>
              </a:rPr>
              <a:t>5. Pie chart </a:t>
            </a:r>
            <a:r>
              <a:rPr lang="en-IN" sz="2200" dirty="0"/>
              <a:t>- turnout percentage for male and female</a:t>
            </a:r>
            <a:br>
              <a:rPr lang="en-IN" sz="2200" dirty="0"/>
            </a:br>
            <a:r>
              <a:rPr lang="en-IN" sz="2200" dirty="0">
                <a:solidFill>
                  <a:srgbClr val="FF0000"/>
                </a:solidFill>
              </a:rPr>
              <a:t>6. KPI card </a:t>
            </a:r>
            <a:r>
              <a:rPr lang="en-IN" sz="2200" dirty="0"/>
              <a:t>- total no of votes and total turn out percentage.</a:t>
            </a:r>
          </a:p>
        </p:txBody>
      </p:sp>
    </p:spTree>
    <p:extLst>
      <p:ext uri="{BB962C8B-B14F-4D97-AF65-F5344CB8AC3E}">
        <p14:creationId xmlns:p14="http://schemas.microsoft.com/office/powerpoint/2010/main" val="1241464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4C788-24A4-BDF8-1313-0A76CBFB4906}"/>
              </a:ext>
            </a:extLst>
          </p:cNvPr>
          <p:cNvSpPr>
            <a:spLocks noGrp="1"/>
          </p:cNvSpPr>
          <p:nvPr>
            <p:ph type="title"/>
          </p:nvPr>
        </p:nvSpPr>
        <p:spPr/>
        <p:txBody>
          <a:bodyPr>
            <a:normAutofit/>
          </a:bodyPr>
          <a:lstStyle/>
          <a:p>
            <a:r>
              <a:rPr lang="en-IN" sz="4800" dirty="0">
                <a:solidFill>
                  <a:srgbClr val="FF0000"/>
                </a:solidFill>
              </a:rPr>
              <a:t>Party and candidate performance</a:t>
            </a:r>
          </a:p>
        </p:txBody>
      </p:sp>
      <p:sp>
        <p:nvSpPr>
          <p:cNvPr id="3" name="Content Placeholder 2">
            <a:extLst>
              <a:ext uri="{FF2B5EF4-FFF2-40B4-BE49-F238E27FC236}">
                <a16:creationId xmlns:a16="http://schemas.microsoft.com/office/drawing/2014/main" id="{4CECC226-B212-4137-F89E-A996B05264E7}"/>
              </a:ext>
            </a:extLst>
          </p:cNvPr>
          <p:cNvSpPr>
            <a:spLocks noGrp="1"/>
          </p:cNvSpPr>
          <p:nvPr>
            <p:ph idx="1"/>
          </p:nvPr>
        </p:nvSpPr>
        <p:spPr>
          <a:xfrm>
            <a:off x="1097280" y="2108201"/>
            <a:ext cx="10058400" cy="4022011"/>
          </a:xfrm>
        </p:spPr>
        <p:txBody>
          <a:bodyPr>
            <a:noAutofit/>
          </a:bodyPr>
          <a:lstStyle/>
          <a:p>
            <a:r>
              <a:rPr lang="en-US" sz="2400" b="1" dirty="0">
                <a:solidFill>
                  <a:srgbClr val="00B050"/>
                </a:solidFill>
              </a:rPr>
              <a:t>Party and candidate performance refers to </a:t>
            </a:r>
            <a:r>
              <a:rPr lang="en-US" sz="2400" u="sng" dirty="0"/>
              <a:t>evaluating how well political parties and their candidates perform in elections </a:t>
            </a:r>
            <a:r>
              <a:rPr lang="en-US" sz="2400" dirty="0"/>
              <a:t>based on factors such as the number of votes received, seats won, vote share, and comparison with other parties or candidates. This analysis helps identify which parties or candidates are more popular in different regions or among different groups of voters.</a:t>
            </a:r>
          </a:p>
          <a:p>
            <a:r>
              <a:rPr lang="en-US" sz="2400" dirty="0"/>
              <a:t>      analysts can clearly show the performance of each party and candidate, making it easier to compare results, understand voting patterns, and evaluate election outcomes. It is useful for political studies, campaign strategies, and understanding public support.</a:t>
            </a:r>
            <a:endParaRPr lang="en-IN" sz="2400" dirty="0"/>
          </a:p>
        </p:txBody>
      </p:sp>
    </p:spTree>
    <p:extLst>
      <p:ext uri="{BB962C8B-B14F-4D97-AF65-F5344CB8AC3E}">
        <p14:creationId xmlns:p14="http://schemas.microsoft.com/office/powerpoint/2010/main" val="9878231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8919C1B-BD15-253D-5A4E-B08DE6831B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 y="0"/>
            <a:ext cx="6683953" cy="4618653"/>
          </a:xfrm>
          <a:prstGeom prst="rect">
            <a:avLst/>
          </a:prstGeom>
        </p:spPr>
      </p:pic>
      <p:sp>
        <p:nvSpPr>
          <p:cNvPr id="2" name="TextBox 1">
            <a:extLst>
              <a:ext uri="{FF2B5EF4-FFF2-40B4-BE49-F238E27FC236}">
                <a16:creationId xmlns:a16="http://schemas.microsoft.com/office/drawing/2014/main" id="{19947B39-261A-F2E6-4C92-95739D3EE589}"/>
              </a:ext>
            </a:extLst>
          </p:cNvPr>
          <p:cNvSpPr txBox="1"/>
          <p:nvPr/>
        </p:nvSpPr>
        <p:spPr>
          <a:xfrm>
            <a:off x="5640355" y="2971800"/>
            <a:ext cx="914400" cy="914400"/>
          </a:xfrm>
          <a:prstGeom prst="rect">
            <a:avLst/>
          </a:prstGeom>
          <a:noFill/>
        </p:spPr>
        <p:txBody>
          <a:bodyPr wrap="square" rtlCol="0">
            <a:spAutoFit/>
          </a:bodyPr>
          <a:lstStyle/>
          <a:p>
            <a:endParaRPr lang="en-IN" dirty="0"/>
          </a:p>
        </p:txBody>
      </p:sp>
      <p:sp>
        <p:nvSpPr>
          <p:cNvPr id="4" name="TextBox 3">
            <a:extLst>
              <a:ext uri="{FF2B5EF4-FFF2-40B4-BE49-F238E27FC236}">
                <a16:creationId xmlns:a16="http://schemas.microsoft.com/office/drawing/2014/main" id="{74691179-7020-A593-6E17-19D656494BE8}"/>
              </a:ext>
            </a:extLst>
          </p:cNvPr>
          <p:cNvSpPr txBox="1"/>
          <p:nvPr/>
        </p:nvSpPr>
        <p:spPr>
          <a:xfrm>
            <a:off x="6690049" y="0"/>
            <a:ext cx="5352786" cy="4324261"/>
          </a:xfrm>
          <a:prstGeom prst="rect">
            <a:avLst/>
          </a:prstGeom>
          <a:noFill/>
        </p:spPr>
        <p:txBody>
          <a:bodyPr wrap="square" rtlCol="0">
            <a:spAutoFit/>
          </a:bodyPr>
          <a:lstStyle/>
          <a:p>
            <a:r>
              <a:rPr lang="en-IN" sz="2500" dirty="0"/>
              <a:t>we used:</a:t>
            </a:r>
            <a:br>
              <a:rPr lang="en-IN" sz="2500" dirty="0"/>
            </a:br>
            <a:r>
              <a:rPr lang="en-IN" sz="2500" dirty="0">
                <a:solidFill>
                  <a:srgbClr val="FF0000"/>
                </a:solidFill>
              </a:rPr>
              <a:t>1. Line chart </a:t>
            </a:r>
            <a:r>
              <a:rPr lang="en-IN" sz="2500" dirty="0"/>
              <a:t>- state name, part name, total number of notes</a:t>
            </a:r>
            <a:br>
              <a:rPr lang="en-IN" sz="2500" dirty="0"/>
            </a:br>
            <a:r>
              <a:rPr lang="en-IN" sz="2500" dirty="0">
                <a:solidFill>
                  <a:srgbClr val="FF0000"/>
                </a:solidFill>
              </a:rPr>
              <a:t>2. KPI card </a:t>
            </a:r>
            <a:r>
              <a:rPr lang="en-IN" sz="2500" dirty="0"/>
              <a:t>- leading candidate, sum of winning margin, total number of votes and the winning margin</a:t>
            </a:r>
            <a:br>
              <a:rPr lang="en-IN" sz="2500" dirty="0"/>
            </a:br>
            <a:r>
              <a:rPr lang="en-IN" sz="2500" dirty="0">
                <a:solidFill>
                  <a:srgbClr val="FF0000"/>
                </a:solidFill>
              </a:rPr>
              <a:t>3. table </a:t>
            </a:r>
            <a:r>
              <a:rPr lang="en-IN" sz="2500" dirty="0"/>
              <a:t>- candidate name, constituency name, state name, total number of votes and </a:t>
            </a:r>
            <a:br>
              <a:rPr lang="en-IN" sz="2500" dirty="0"/>
            </a:br>
            <a:r>
              <a:rPr lang="en-IN" sz="2500" dirty="0">
                <a:solidFill>
                  <a:srgbClr val="FF0000"/>
                </a:solidFill>
              </a:rPr>
              <a:t>4. filled Map </a:t>
            </a:r>
            <a:r>
              <a:rPr lang="en-IN" sz="2500" dirty="0"/>
              <a:t>– sum of winning margin percentage by state name and party.</a:t>
            </a:r>
          </a:p>
        </p:txBody>
      </p:sp>
      <p:sp>
        <p:nvSpPr>
          <p:cNvPr id="7" name="TextBox 6">
            <a:extLst>
              <a:ext uri="{FF2B5EF4-FFF2-40B4-BE49-F238E27FC236}">
                <a16:creationId xmlns:a16="http://schemas.microsoft.com/office/drawing/2014/main" id="{E660F4E5-1E6C-75E7-B8D5-7C5E5A60B1B0}"/>
              </a:ext>
            </a:extLst>
          </p:cNvPr>
          <p:cNvSpPr txBox="1"/>
          <p:nvPr/>
        </p:nvSpPr>
        <p:spPr>
          <a:xfrm>
            <a:off x="0" y="4819596"/>
            <a:ext cx="8640147" cy="1938992"/>
          </a:xfrm>
          <a:prstGeom prst="rect">
            <a:avLst/>
          </a:prstGeom>
          <a:noFill/>
        </p:spPr>
        <p:txBody>
          <a:bodyPr wrap="square" rtlCol="0">
            <a:spAutoFit/>
          </a:bodyPr>
          <a:lstStyle/>
          <a:p>
            <a:r>
              <a:rPr lang="en-IN" sz="2400" dirty="0">
                <a:solidFill>
                  <a:srgbClr val="00B050"/>
                </a:solidFill>
              </a:rPr>
              <a:t>TO UNDERSTAND:</a:t>
            </a:r>
          </a:p>
          <a:p>
            <a:pPr marL="342900" indent="-342900">
              <a:buAutoNum type="arabicPeriod"/>
            </a:pPr>
            <a:r>
              <a:rPr lang="en-IN" sz="2400" dirty="0">
                <a:solidFill>
                  <a:srgbClr val="FFFF00"/>
                </a:solidFill>
              </a:rPr>
              <a:t>party and candidate performance in their respective localities and</a:t>
            </a:r>
          </a:p>
          <a:p>
            <a:pPr marL="342900" indent="-342900">
              <a:buAutoNum type="arabicPeriod"/>
            </a:pPr>
            <a:r>
              <a:rPr lang="en-IN" sz="2400" dirty="0">
                <a:solidFill>
                  <a:srgbClr val="FFFF00"/>
                </a:solidFill>
              </a:rPr>
              <a:t>the result of their elections.</a:t>
            </a:r>
          </a:p>
          <a:p>
            <a:pPr marL="342900" indent="-342900">
              <a:buAutoNum type="arabicPeriod"/>
            </a:pPr>
            <a:r>
              <a:rPr lang="en-IN" sz="2400" dirty="0">
                <a:solidFill>
                  <a:srgbClr val="FFFF00"/>
                </a:solidFill>
              </a:rPr>
              <a:t>Leading candidate names and their turn out percentage.</a:t>
            </a:r>
          </a:p>
        </p:txBody>
      </p:sp>
    </p:spTree>
    <p:extLst>
      <p:ext uri="{BB962C8B-B14F-4D97-AF65-F5344CB8AC3E}">
        <p14:creationId xmlns:p14="http://schemas.microsoft.com/office/powerpoint/2010/main" val="30597248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3F3AE5-1FE0-ABBC-AFE7-5EC6583B69F7}"/>
              </a:ext>
            </a:extLst>
          </p:cNvPr>
          <p:cNvSpPr>
            <a:spLocks noGrp="1"/>
          </p:cNvSpPr>
          <p:nvPr>
            <p:ph type="title"/>
          </p:nvPr>
        </p:nvSpPr>
        <p:spPr/>
        <p:txBody>
          <a:bodyPr/>
          <a:lstStyle/>
          <a:p>
            <a:r>
              <a:rPr lang="en-IN" dirty="0">
                <a:solidFill>
                  <a:srgbClr val="FF0000"/>
                </a:solidFill>
              </a:rPr>
              <a:t>CONCLUSION</a:t>
            </a:r>
          </a:p>
        </p:txBody>
      </p:sp>
      <p:sp>
        <p:nvSpPr>
          <p:cNvPr id="3" name="Content Placeholder 2">
            <a:extLst>
              <a:ext uri="{FF2B5EF4-FFF2-40B4-BE49-F238E27FC236}">
                <a16:creationId xmlns:a16="http://schemas.microsoft.com/office/drawing/2014/main" id="{CF6B5FCD-856D-2DCF-C201-CE51137D814E}"/>
              </a:ext>
            </a:extLst>
          </p:cNvPr>
          <p:cNvSpPr>
            <a:spLocks noGrp="1"/>
          </p:cNvSpPr>
          <p:nvPr>
            <p:ph idx="1"/>
          </p:nvPr>
        </p:nvSpPr>
        <p:spPr>
          <a:xfrm>
            <a:off x="1066800" y="1833882"/>
            <a:ext cx="10058400" cy="3825238"/>
          </a:xfrm>
        </p:spPr>
        <p:txBody>
          <a:bodyPr>
            <a:noAutofit/>
          </a:bodyPr>
          <a:lstStyle/>
          <a:p>
            <a:r>
              <a:rPr lang="en-IN" sz="2600" dirty="0"/>
              <a:t>Now the Data Visualization is completed and the following are as follows:</a:t>
            </a:r>
          </a:p>
          <a:p>
            <a:r>
              <a:rPr lang="en-IN" sz="2600" dirty="0"/>
              <a:t>1. Data transformation from </a:t>
            </a:r>
            <a:r>
              <a:rPr lang="en-IN" sz="2600" u="sng" dirty="0"/>
              <a:t>RAW data to pictorial Data</a:t>
            </a:r>
            <a:r>
              <a:rPr lang="en-IN" sz="2600" dirty="0"/>
              <a:t>.</a:t>
            </a:r>
          </a:p>
          <a:p>
            <a:r>
              <a:rPr lang="en-IN" sz="2600" dirty="0"/>
              <a:t>2. Understanding of the </a:t>
            </a:r>
            <a:r>
              <a:rPr lang="en-IN" sz="2600" u="sng" dirty="0"/>
              <a:t>Large amount of data </a:t>
            </a:r>
            <a:r>
              <a:rPr lang="en-IN" sz="2600" dirty="0"/>
              <a:t>becomes simplified.</a:t>
            </a:r>
          </a:p>
          <a:p>
            <a:r>
              <a:rPr lang="en-IN" sz="2600" dirty="0"/>
              <a:t>3. It </a:t>
            </a:r>
            <a:r>
              <a:rPr lang="en-IN" sz="2600" u="sng" dirty="0"/>
              <a:t>improves the decision making through visual</a:t>
            </a:r>
            <a:r>
              <a:rPr lang="en-IN" sz="2600" dirty="0"/>
              <a:t> representation instead of RAW numbers.</a:t>
            </a:r>
          </a:p>
          <a:p>
            <a:r>
              <a:rPr lang="en-IN" sz="2600" dirty="0"/>
              <a:t>4. It shows us </a:t>
            </a:r>
            <a:r>
              <a:rPr lang="en-IN" sz="2600" u="sng" dirty="0"/>
              <a:t>the Lead and the Least voting parties</a:t>
            </a:r>
            <a:r>
              <a:rPr lang="en-IN" sz="2600" dirty="0"/>
              <a:t> which makes it easier to understand the party performance on their locality.</a:t>
            </a:r>
          </a:p>
        </p:txBody>
      </p:sp>
    </p:spTree>
    <p:extLst>
      <p:ext uri="{BB962C8B-B14F-4D97-AF65-F5344CB8AC3E}">
        <p14:creationId xmlns:p14="http://schemas.microsoft.com/office/powerpoint/2010/main" val="26719530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 name="Rectangle 46">
            <a:extLst>
              <a:ext uri="{FF2B5EF4-FFF2-40B4-BE49-F238E27FC236}">
                <a16:creationId xmlns:a16="http://schemas.microsoft.com/office/drawing/2014/main" id="{FBDCECDC-EEE3-4128-AA5E-82A8C08796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AB2EA78-AEB3-469B-9025-3B17201A457B}"/>
              </a:ext>
            </a:extLst>
          </p:cNvPr>
          <p:cNvSpPr>
            <a:spLocks noGrp="1"/>
          </p:cNvSpPr>
          <p:nvPr>
            <p:ph type="ctrTitle"/>
          </p:nvPr>
        </p:nvSpPr>
        <p:spPr>
          <a:xfrm>
            <a:off x="2127380" y="758952"/>
            <a:ext cx="9028300" cy="3892168"/>
          </a:xfrm>
        </p:spPr>
        <p:txBody>
          <a:bodyPr anchor="ctr">
            <a:normAutofit/>
          </a:bodyPr>
          <a:lstStyle/>
          <a:p>
            <a:pPr lvl="0"/>
            <a:r>
              <a:rPr lang="en-US" sz="9600" i="1" dirty="0">
                <a:solidFill>
                  <a:srgbClr val="FF0000"/>
                </a:solidFill>
              </a:rPr>
              <a:t>THANK YOU</a:t>
            </a:r>
          </a:p>
        </p:txBody>
      </p:sp>
      <p:sp>
        <p:nvSpPr>
          <p:cNvPr id="49" name="Rectangle 48">
            <a:extLst>
              <a:ext uri="{FF2B5EF4-FFF2-40B4-BE49-F238E27FC236}">
                <a16:creationId xmlns:a16="http://schemas.microsoft.com/office/drawing/2014/main" id="{4260EDE0-989C-4E16-AF94-F652294D82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91714609"/>
      </p:ext>
    </p:extLst>
  </p:cSld>
  <p:clrMapOvr>
    <a:masterClrMapping/>
  </p:clrMapOvr>
</p:sld>
</file>

<file path=ppt/theme/theme1.xml><?xml version="1.0" encoding="utf-8"?>
<a:theme xmlns:a="http://schemas.openxmlformats.org/drawingml/2006/main" name="Custom">
  <a:themeElements>
    <a:clrScheme name="Custom 37">
      <a:dk1>
        <a:srgbClr val="000000"/>
      </a:dk1>
      <a:lt1>
        <a:srgbClr val="FFFFFF"/>
      </a:lt1>
      <a:dk2>
        <a:srgbClr val="4A5356"/>
      </a:dk2>
      <a:lt2>
        <a:srgbClr val="E8E3CE"/>
      </a:lt2>
      <a:accent1>
        <a:srgbClr val="9BA8B7"/>
      </a:accent1>
      <a:accent2>
        <a:srgbClr val="E6A02E"/>
      </a:accent2>
      <a:accent3>
        <a:srgbClr val="BF6A3B"/>
      </a:accent3>
      <a:accent4>
        <a:srgbClr val="92987A"/>
      </a:accent4>
      <a:accent5>
        <a:srgbClr val="857659"/>
      </a:accent5>
      <a:accent6>
        <a:srgbClr val="A0988C"/>
      </a:accent6>
      <a:hlink>
        <a:srgbClr val="00B0F0"/>
      </a:hlink>
      <a:folHlink>
        <a:srgbClr val="738F97"/>
      </a:folHlink>
    </a:clrScheme>
    <a:fontScheme name="Retrospect">
      <a:majorFont>
        <a:latin typeface="Bookman Old Style"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TWO.pptx" id="{80AA9D2D-EE59-4148-A11E-A51EEE828B28}" vid="{AEAFD717-D3C8-4034-8F7E-D5220B0CCEB8}"/>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C5A59D56-2157-4202-9D02-F44E447A241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9DAD249-BF80-48EF-9AFB-36A11BCDC2CE}">
  <ds:schemaRefs>
    <ds:schemaRef ds:uri="http://schemas.microsoft.com/sharepoint/v3/contenttype/forms"/>
  </ds:schemaRefs>
</ds:datastoreItem>
</file>

<file path=customXml/itemProps3.xml><?xml version="1.0" encoding="utf-8"?>
<ds:datastoreItem xmlns:ds="http://schemas.openxmlformats.org/officeDocument/2006/customXml" ds:itemID="{6F4F4D41-822D-40F2-A7AC-E4E6CB36CA7A}">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Props/app.xml><?xml version="1.0" encoding="utf-8"?>
<Properties xmlns="http://schemas.openxmlformats.org/officeDocument/2006/extended-properties" xmlns:vt="http://schemas.openxmlformats.org/officeDocument/2006/docPropsVTypes">
  <Template>{576B19D1-11F3-43AD-8F20-5736BDA90ED0}tf56160789_win32</Template>
  <TotalTime>505</TotalTime>
  <Words>1402</Words>
  <Application>Microsoft Office PowerPoint</Application>
  <PresentationFormat>Widescreen</PresentationFormat>
  <Paragraphs>69</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Bookman Old Style</vt:lpstr>
      <vt:lpstr>Calibri</vt:lpstr>
      <vt:lpstr>Franklin Gothic Book</vt:lpstr>
      <vt:lpstr>Custom</vt:lpstr>
      <vt:lpstr>ElectiViz election type data visualization for media</vt:lpstr>
      <vt:lpstr>Problem Statement</vt:lpstr>
      <vt:lpstr>Objective of the project</vt:lpstr>
      <vt:lpstr> The dataset includes:  1.consistency        2.Total votes received        3.Total no of parties     4.States   5. vote percentage          6. Candidate names      7. Winning candidate and victory margin  8. Vote share percentage </vt:lpstr>
      <vt:lpstr>Dataset Integration</vt:lpstr>
      <vt:lpstr>Data Modelling</vt:lpstr>
      <vt:lpstr>PowerPoint Presentation</vt:lpstr>
      <vt:lpstr>Historical Trends </vt:lpstr>
      <vt:lpstr>PowerPoint Presentation</vt:lpstr>
      <vt:lpstr>Real Time Results</vt:lpstr>
      <vt:lpstr>PowerPoint Presentation</vt:lpstr>
      <vt:lpstr>Turnout and demographic analysis</vt:lpstr>
      <vt:lpstr>PowerPoint Presentation</vt:lpstr>
      <vt:lpstr>Party and candidate performance</vt:lpstr>
      <vt:lpstr>PowerPoint Presentation</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shaik roshan jaheer</dc:creator>
  <cp:lastModifiedBy>shaik roshan jaheer</cp:lastModifiedBy>
  <cp:revision>1</cp:revision>
  <dcterms:created xsi:type="dcterms:W3CDTF">2026-03-02T14:59:40Z</dcterms:created>
  <dcterms:modified xsi:type="dcterms:W3CDTF">2026-03-25T14:59:41Z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